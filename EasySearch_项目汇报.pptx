
<file path=[Content_Types].xml><?xml version="1.0" encoding="utf-8"?>
<Types xmlns="http://schemas.openxmlformats.org/package/2006/content-types">
  <Default Extension="jpg" ContentType="image/jp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2" d="100"/>
          <a:sy n="92" d="100"/>
        </p:scale>
        <p:origin x="64" y="2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53833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pt_assets/cover_bg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6949440" cy="6858000"/>
          </a:xfrm>
          <a:prstGeom prst="rect">
            <a:avLst/>
          </a:prstGeom>
          <a:solidFill>
            <a:srgbClr val="0B1F3A">
              <a:alpha val="62000"/>
            </a:srgbClr>
          </a:solidFill>
          <a:ln/>
        </p:spPr>
      </p:sp>
      <p:sp>
        <p:nvSpPr>
          <p:cNvPr id="4" name="Text 1"/>
          <p:cNvSpPr/>
          <p:nvPr/>
        </p:nvSpPr>
        <p:spPr>
          <a:xfrm>
            <a:off x="685800" y="1417320"/>
            <a:ext cx="594360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C892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赛题汇报 · 业务场景对口部门：数平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640080" y="1783080"/>
            <a:ext cx="6583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应用服务智能检索推荐引擎</a:t>
            </a:r>
            <a:endParaRPr lang="en-US" sz="4000" dirty="0"/>
          </a:p>
        </p:txBody>
      </p:sp>
      <p:sp>
        <p:nvSpPr>
          <p:cNvPr id="6" name="Text 3"/>
          <p:cNvSpPr/>
          <p:nvPr/>
        </p:nvSpPr>
        <p:spPr>
          <a:xfrm>
            <a:off x="658368" y="2788920"/>
            <a:ext cx="6583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D8E2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EasySearch —— 从「菜单式操作」到「意图驱动服务」</a:t>
            </a:r>
            <a:endParaRPr lang="en-US" sz="1700" dirty="0"/>
          </a:p>
        </p:txBody>
      </p:sp>
      <p:sp>
        <p:nvSpPr>
          <p:cNvPr id="7" name="Shape 4"/>
          <p:cNvSpPr/>
          <p:nvPr/>
        </p:nvSpPr>
        <p:spPr>
          <a:xfrm>
            <a:off x="685800" y="3429000"/>
            <a:ext cx="2011680" cy="0"/>
          </a:xfrm>
          <a:prstGeom prst="line">
            <a:avLst/>
          </a:prstGeom>
          <a:noFill/>
          <a:ln w="25400">
            <a:solidFill>
              <a:srgbClr val="C8922A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58368" y="3611880"/>
            <a:ext cx="6583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AAB8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自然语言检索  ·  大模型意图理解  ·  混合排序  ·  全链路降级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658368" y="58064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FA0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汇报人：XXX      2026 年 8 月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B1F3A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85800"/>
            <a:ext cx="365760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00" b="1" kern="0" spc="300" dirty="0">
                <a:solidFill>
                  <a:srgbClr val="C892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CONTENTS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D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目录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057400"/>
            <a:ext cx="11094415" cy="896112"/>
          </a:xfrm>
          <a:prstGeom prst="rect">
            <a:avLst/>
          </a:prstGeom>
          <a:solidFill>
            <a:srgbClr val="FFFFFF"/>
          </a:solidFill>
          <a:ln w="9525">
            <a:solidFill>
              <a:srgbClr val="D9D4C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2258568"/>
            <a:ext cx="822960" cy="50292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D8E2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1783080" y="2185416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A1D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项目背景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783080" y="256946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62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业务场景 · 核心痛点 · 项目定位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48640" y="3136392"/>
            <a:ext cx="11094415" cy="896112"/>
          </a:xfrm>
          <a:prstGeom prst="rect">
            <a:avLst/>
          </a:prstGeom>
          <a:solidFill>
            <a:srgbClr val="FFFFFF"/>
          </a:solidFill>
          <a:ln w="9525">
            <a:solidFill>
              <a:srgbClr val="D9D4C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3337560"/>
            <a:ext cx="822960" cy="50292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D8E2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1783080" y="326440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A1D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项目成果 · 业务价值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1783080" y="364845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62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量化指标 · 场景实测 · 试点落地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48640" y="4215384"/>
            <a:ext cx="11094415" cy="896112"/>
          </a:xfrm>
          <a:prstGeom prst="rect">
            <a:avLst/>
          </a:prstGeom>
          <a:solidFill>
            <a:srgbClr val="FFFFFF"/>
          </a:solidFill>
          <a:ln w="9525">
            <a:solidFill>
              <a:srgbClr val="D9D4C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2960" y="4416552"/>
            <a:ext cx="822960" cy="50292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D8E2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1783080" y="43434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A1D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项目成果 · 创新价值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1783080" y="47274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62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系统架构 · 检索流水线 · 算法与工程创新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48640" y="5294376"/>
            <a:ext cx="11094415" cy="896112"/>
          </a:xfrm>
          <a:prstGeom prst="rect">
            <a:avLst/>
          </a:prstGeom>
          <a:solidFill>
            <a:srgbClr val="FFFFFF"/>
          </a:solidFill>
          <a:ln w="9525">
            <a:solidFill>
              <a:srgbClr val="D9D4C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2960" y="5495544"/>
            <a:ext cx="822960" cy="50292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D8E2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1783080" y="5422392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A1D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总结与展望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1783080" y="58064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62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成果收束 · 演进方向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F4E79"/>
          </a:solidFill>
          <a:ln/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5486400" cy="237744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b="1" kern="0" spc="200" dirty="0">
                <a:solidFill>
                  <a:srgbClr val="C892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PART 01 · 项目背景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30352"/>
            <a:ext cx="1109441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1A1D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证券 App 功能入口分散，「找服务」成为体验瓶颈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548640" y="1170432"/>
            <a:ext cx="11094415" cy="0"/>
          </a:xfrm>
          <a:prstGeom prst="line">
            <a:avLst/>
          </a:prstGeom>
          <a:noFill/>
          <a:ln w="12700">
            <a:solidFill>
              <a:srgbClr val="D9D4C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6473952"/>
            <a:ext cx="11094415" cy="0"/>
          </a:xfrm>
          <a:prstGeom prst="line">
            <a:avLst/>
          </a:prstGeom>
          <a:noFill/>
          <a:ln w="9525">
            <a:solidFill>
              <a:srgbClr val="D9D4C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6528816"/>
            <a:ext cx="548640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9AA1A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EasySearch · 应用服务智能检索推荐引擎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185855" y="6528816"/>
            <a:ext cx="45720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00" dirty="0">
                <a:solidFill>
                  <a:srgbClr val="9AA1A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48640" y="1417320"/>
            <a:ext cx="3545738" cy="22860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4C9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" y="1417320"/>
            <a:ext cx="45720" cy="2286000"/>
          </a:xfrm>
          <a:prstGeom prst="rect">
            <a:avLst/>
          </a:prstGeom>
          <a:solidFill>
            <a:srgbClr val="1F4E79"/>
          </a:solidFill>
          <a:ln/>
        </p:spPr>
      </p:sp>
      <p:sp>
        <p:nvSpPr>
          <p:cNvPr id="10" name="Text 8"/>
          <p:cNvSpPr/>
          <p:nvPr/>
        </p:nvSpPr>
        <p:spPr>
          <a:xfrm>
            <a:off x="713232" y="1527048"/>
            <a:ext cx="3271418" cy="20116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F4E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痛点一 · 入口分散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713232" y="1746504"/>
            <a:ext cx="321655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D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功能多、层级深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13232" y="2093976"/>
            <a:ext cx="3216554" cy="1499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5A62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证券 App 数百个功能服务散落在多级菜单中，用户依赖人工记忆与逐级翻找，路径长、学习成本高。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322978" y="1417320"/>
            <a:ext cx="3545738" cy="22860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4C9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322978" y="1417320"/>
            <a:ext cx="45720" cy="2286000"/>
          </a:xfrm>
          <a:prstGeom prst="rect">
            <a:avLst/>
          </a:prstGeom>
          <a:solidFill>
            <a:srgbClr val="1F4E79"/>
          </a:solidFill>
          <a:ln/>
        </p:spPr>
      </p:sp>
      <p:sp>
        <p:nvSpPr>
          <p:cNvPr id="15" name="Text 13"/>
          <p:cNvSpPr/>
          <p:nvPr/>
        </p:nvSpPr>
        <p:spPr>
          <a:xfrm>
            <a:off x="4487570" y="1527048"/>
            <a:ext cx="3271418" cy="20116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F4E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痛点二 · 检索低效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487570" y="1746504"/>
            <a:ext cx="321655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D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自然语言无法直达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487570" y="2093976"/>
            <a:ext cx="3216554" cy="1499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5A62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用户习惯用口语表达需求（如“把银行的钱转到证券账户”），传统关键词匹配无法理解意图、命中别名。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8097317" y="1417320"/>
            <a:ext cx="3545738" cy="22860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4C9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097317" y="1417320"/>
            <a:ext cx="45720" cy="2286000"/>
          </a:xfrm>
          <a:prstGeom prst="rect">
            <a:avLst/>
          </a:prstGeom>
          <a:solidFill>
            <a:srgbClr val="1F4E79"/>
          </a:solidFill>
          <a:ln/>
        </p:spPr>
      </p:sp>
      <p:sp>
        <p:nvSpPr>
          <p:cNvPr id="20" name="Text 18"/>
          <p:cNvSpPr/>
          <p:nvPr/>
        </p:nvSpPr>
        <p:spPr>
          <a:xfrm>
            <a:off x="8261909" y="1527048"/>
            <a:ext cx="3271418" cy="20116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F4E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痛点三 · 体验断层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8261909" y="1746504"/>
            <a:ext cx="321655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D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搜到 ≠ 用到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8261909" y="2093976"/>
            <a:ext cx="3216554" cy="1499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5A62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即使找到服务名称，用户仍需自行定位页面入口与操作按钮，从「搜索」到「办理」之间存在断点。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548640" y="3977640"/>
            <a:ext cx="11094415" cy="2148840"/>
          </a:xfrm>
          <a:prstGeom prst="rect">
            <a:avLst/>
          </a:prstGeom>
          <a:solidFill>
            <a:srgbClr val="1F4E79"/>
          </a:solidFill>
          <a:ln w="9525">
            <a:solidFill>
              <a:srgbClr val="D9D4C9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22960" y="4160520"/>
            <a:ext cx="2743200" cy="25603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b="1" kern="0" spc="200" dirty="0">
                <a:solidFill>
                  <a:srgbClr val="C892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市场机会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822960" y="4434840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从「菜单式操作」升级为「意图驱动服务」</a:t>
            </a:r>
            <a:endParaRPr lang="en-US" sz="1900" dirty="0"/>
          </a:p>
        </p:txBody>
      </p:sp>
      <p:sp>
        <p:nvSpPr>
          <p:cNvPr id="26" name="Text 24"/>
          <p:cNvSpPr/>
          <p:nvPr/>
        </p:nvSpPr>
        <p:spPr>
          <a:xfrm>
            <a:off x="822960" y="4956048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D8E2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基于脱敏服务功能字典，融合大模型意图理解与检索排序，把用户的一句话直接转化为「可点击的服务推荐」——</a:t>
            </a:r>
            <a:endParaRPr lang="en-US" sz="125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D8E2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检索即入口、结果即操作，缩短服务触达路径，降低客服与引导成本，盘活长尾功能服务。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5486400" cy="237744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b="1" kern="0" spc="200" dirty="0">
                <a:solidFill>
                  <a:srgbClr val="C892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PART 01 · 项目定位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30352"/>
            <a:ext cx="1109441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1A1D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EasySearch：一句话直达服务的平台内智能搜索引擎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548640" y="1170432"/>
            <a:ext cx="11094415" cy="0"/>
          </a:xfrm>
          <a:prstGeom prst="line">
            <a:avLst/>
          </a:prstGeom>
          <a:noFill/>
          <a:ln w="12700">
            <a:solidFill>
              <a:srgbClr val="D9D4C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6473952"/>
            <a:ext cx="11094415" cy="0"/>
          </a:xfrm>
          <a:prstGeom prst="line">
            <a:avLst/>
          </a:prstGeom>
          <a:noFill/>
          <a:ln w="9525">
            <a:solidFill>
              <a:srgbClr val="D9D4C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6528816"/>
            <a:ext cx="548640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9AA1A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EasySearch · 应用服务智能检索推荐引擎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185855" y="6528816"/>
            <a:ext cx="45720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00" dirty="0">
                <a:solidFill>
                  <a:srgbClr val="9AA1A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48640" y="1417320"/>
            <a:ext cx="11094415" cy="1371600"/>
          </a:xfrm>
          <a:prstGeom prst="rect">
            <a:avLst/>
          </a:prstGeom>
          <a:solidFill>
            <a:srgbClr val="D8E2EE"/>
          </a:solidFill>
          <a:ln w="9525">
            <a:solidFill>
              <a:srgbClr val="D9D4C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1600200"/>
            <a:ext cx="1054577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1F4E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解决什么问题：</a:t>
            </a:r>
            <a:r>
              <a:rPr lang="en-US" sz="1300" dirty="0">
                <a:solidFill>
                  <a:srgbClr val="1A1D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用户输入自然语言，系统从服务知识库中检索最匹配的服务，直接返回 可点击路径 / 页面组件 / 决策按钮 / 排序理由。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22960" y="2212848"/>
            <a:ext cx="105457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1F4E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为谁创造价值：</a:t>
            </a:r>
            <a:r>
              <a:rPr lang="en-US" sz="1300" dirty="0">
                <a:solidFill>
                  <a:srgbClr val="1A1D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 端证券 App 用户（找服务更快）· 运营团队（长尾服务获得曝光）· 客服团队（减少“在哪点”类咨询）。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3108960"/>
            <a:ext cx="2602154" cy="3017520"/>
          </a:xfrm>
          <a:prstGeom prst="rect">
            <a:avLst/>
          </a:prstGeom>
          <a:solidFill>
            <a:srgbClr val="FFFFFF"/>
          </a:solidFill>
          <a:ln w="9525">
            <a:solidFill>
              <a:srgbClr val="D9D4C9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48640" y="3108960"/>
            <a:ext cx="2602154" cy="54864"/>
          </a:xfrm>
          <a:prstGeom prst="rect">
            <a:avLst/>
          </a:prstGeom>
          <a:solidFill>
            <a:srgbClr val="C8922A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3310128"/>
            <a:ext cx="731520" cy="36576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D8E2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731520" y="3730752"/>
            <a:ext cx="223639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A1D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混合检索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731520" y="4160520"/>
            <a:ext cx="223639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5A62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向量语义 + 多字段 BM25 + 热门性加权（0.6 / 0.3 / 0.1），语义与关键词双保险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379394" y="3108960"/>
            <a:ext cx="2602154" cy="3017520"/>
          </a:xfrm>
          <a:prstGeom prst="rect">
            <a:avLst/>
          </a:prstGeom>
          <a:solidFill>
            <a:srgbClr val="FFFFFF"/>
          </a:solidFill>
          <a:ln w="9525">
            <a:solidFill>
              <a:srgbClr val="D9D4C9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379394" y="3108960"/>
            <a:ext cx="2602154" cy="54864"/>
          </a:xfrm>
          <a:prstGeom prst="rect">
            <a:avLst/>
          </a:prstGeom>
          <a:solidFill>
            <a:srgbClr val="C8922A"/>
          </a:solidFill>
          <a:ln/>
        </p:spPr>
      </p:sp>
      <p:sp>
        <p:nvSpPr>
          <p:cNvPr id="18" name="Text 16"/>
          <p:cNvSpPr/>
          <p:nvPr/>
        </p:nvSpPr>
        <p:spPr>
          <a:xfrm>
            <a:off x="3562274" y="3310128"/>
            <a:ext cx="731520" cy="36576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D8E2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3562274" y="3730752"/>
            <a:ext cx="223639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A1D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意图驱动</a:t>
            </a:r>
            <a:endParaRPr lang="en-US" sz="1550" dirty="0"/>
          </a:p>
        </p:txBody>
      </p:sp>
      <p:sp>
        <p:nvSpPr>
          <p:cNvPr id="20" name="Text 18"/>
          <p:cNvSpPr/>
          <p:nvPr/>
        </p:nvSpPr>
        <p:spPr>
          <a:xfrm>
            <a:off x="3562274" y="4160520"/>
            <a:ext cx="223639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5A62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 类意图路由：导航 / 多条件 / 指引 / 信息 / 会话 / 默认，不同意图走不同流水线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210148" y="3108960"/>
            <a:ext cx="2602154" cy="3017520"/>
          </a:xfrm>
          <a:prstGeom prst="rect">
            <a:avLst/>
          </a:prstGeom>
          <a:solidFill>
            <a:srgbClr val="FFFFFF"/>
          </a:solidFill>
          <a:ln w="9525">
            <a:solidFill>
              <a:srgbClr val="D9D4C9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210148" y="3108960"/>
            <a:ext cx="2602154" cy="54864"/>
          </a:xfrm>
          <a:prstGeom prst="rect">
            <a:avLst/>
          </a:prstGeom>
          <a:solidFill>
            <a:srgbClr val="C8922A"/>
          </a:solidFill>
          <a:ln/>
        </p:spPr>
      </p:sp>
      <p:sp>
        <p:nvSpPr>
          <p:cNvPr id="23" name="Text 21"/>
          <p:cNvSpPr/>
          <p:nvPr/>
        </p:nvSpPr>
        <p:spPr>
          <a:xfrm>
            <a:off x="6393028" y="3310128"/>
            <a:ext cx="731520" cy="36576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D8E2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6393028" y="3730752"/>
            <a:ext cx="223639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A1D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大模型增强</a:t>
            </a:r>
            <a:endParaRPr lang="en-US" sz="1550" dirty="0"/>
          </a:p>
        </p:txBody>
      </p:sp>
      <p:sp>
        <p:nvSpPr>
          <p:cNvPr id="25" name="Text 23"/>
          <p:cNvSpPr/>
          <p:nvPr/>
        </p:nvSpPr>
        <p:spPr>
          <a:xfrm>
            <a:off x="6393028" y="4160520"/>
            <a:ext cx="223639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5A62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qwen 向量与重排、DeepSeek 生成排序理由与步骤化答案，理由按命中字段差异化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9040901" y="3108960"/>
            <a:ext cx="2602154" cy="3017520"/>
          </a:xfrm>
          <a:prstGeom prst="rect">
            <a:avLst/>
          </a:prstGeom>
          <a:solidFill>
            <a:srgbClr val="FFFFFF"/>
          </a:solidFill>
          <a:ln w="9525">
            <a:solidFill>
              <a:srgbClr val="D9D4C9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9040901" y="3108960"/>
            <a:ext cx="2602154" cy="54864"/>
          </a:xfrm>
          <a:prstGeom prst="rect">
            <a:avLst/>
          </a:prstGeom>
          <a:solidFill>
            <a:srgbClr val="C8922A"/>
          </a:solidFill>
          <a:ln/>
        </p:spPr>
      </p:sp>
      <p:sp>
        <p:nvSpPr>
          <p:cNvPr id="28" name="Text 26"/>
          <p:cNvSpPr/>
          <p:nvPr/>
        </p:nvSpPr>
        <p:spPr>
          <a:xfrm>
            <a:off x="9223781" y="3310128"/>
            <a:ext cx="731520" cy="36576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D8E2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9223781" y="3730752"/>
            <a:ext cx="223639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A1D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生产级运维</a:t>
            </a:r>
            <a:endParaRPr lang="en-US" sz="1550" dirty="0"/>
          </a:p>
        </p:txBody>
      </p:sp>
      <p:sp>
        <p:nvSpPr>
          <p:cNvPr id="30" name="Text 28"/>
          <p:cNvSpPr/>
          <p:nvPr/>
        </p:nvSpPr>
        <p:spPr>
          <a:xfrm>
            <a:off x="9223781" y="4160520"/>
            <a:ext cx="223639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5A62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Prometheus 指标、SSE 实时大盘、4 条告警规则、鉴权限流、全链路自动降级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5486400" cy="237744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b="1" kern="0" spc="200" dirty="0">
                <a:solidFill>
                  <a:srgbClr val="C892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PART 02 · 业务价值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30352"/>
            <a:ext cx="1109441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1A1D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核心数据总览：内部测试与试运行指标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548640" y="1170432"/>
            <a:ext cx="11094415" cy="0"/>
          </a:xfrm>
          <a:prstGeom prst="line">
            <a:avLst/>
          </a:prstGeom>
          <a:noFill/>
          <a:ln w="12700">
            <a:solidFill>
              <a:srgbClr val="D9D4C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6473952"/>
            <a:ext cx="11094415" cy="0"/>
          </a:xfrm>
          <a:prstGeom prst="line">
            <a:avLst/>
          </a:prstGeom>
          <a:noFill/>
          <a:ln w="9525">
            <a:solidFill>
              <a:srgbClr val="D9D4C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6528816"/>
            <a:ext cx="548640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9AA1A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EasySearch · 应用服务智能检索推荐引擎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185855" y="6528816"/>
            <a:ext cx="45720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00" dirty="0">
                <a:solidFill>
                  <a:srgbClr val="9AA1A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48640" y="1417320"/>
            <a:ext cx="3545738" cy="2240280"/>
          </a:xfrm>
          <a:prstGeom prst="rect">
            <a:avLst/>
          </a:prstGeom>
          <a:solidFill>
            <a:srgbClr val="FFFFFF"/>
          </a:solidFill>
          <a:ln w="9525">
            <a:solidFill>
              <a:srgbClr val="D9D4C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1618488"/>
            <a:ext cx="3088538" cy="56692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2E7D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≥95%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777240" y="2286000"/>
            <a:ext cx="308853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D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Top-10 服务命中率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777240" y="2679192"/>
            <a:ext cx="3088538" cy="0"/>
          </a:xfrm>
          <a:prstGeom prst="line">
            <a:avLst/>
          </a:prstGeom>
          <a:noFill/>
          <a:ln w="9525">
            <a:solidFill>
              <a:srgbClr val="D9D4C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77240" y="2788920"/>
            <a:ext cx="308853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5A62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内部评测集（300 条金融服务知识库，覆盖别名/口语化 query）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322978" y="1417320"/>
            <a:ext cx="3545738" cy="2240280"/>
          </a:xfrm>
          <a:prstGeom prst="rect">
            <a:avLst/>
          </a:prstGeom>
          <a:solidFill>
            <a:srgbClr val="FFFFFF"/>
          </a:solidFill>
          <a:ln w="9525">
            <a:solidFill>
              <a:srgbClr val="D9D4C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51578" y="1618488"/>
            <a:ext cx="3088538" cy="56692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2E7D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100%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4551578" y="2286000"/>
            <a:ext cx="308853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D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核心场景通过率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551578" y="2679192"/>
            <a:ext cx="3088538" cy="0"/>
          </a:xfrm>
          <a:prstGeom prst="line">
            <a:avLst/>
          </a:prstGeom>
          <a:noFill/>
          <a:ln w="9525">
            <a:solidFill>
              <a:srgbClr val="D9D4C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51578" y="2788920"/>
            <a:ext cx="308853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5A62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精准跳转 / 需求匹配 / 泛化组合 / 兜底 四大命题场景全部通过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8097317" y="1417320"/>
            <a:ext cx="3545738" cy="2240280"/>
          </a:xfrm>
          <a:prstGeom prst="rect">
            <a:avLst/>
          </a:prstGeom>
          <a:solidFill>
            <a:srgbClr val="FFFFFF"/>
          </a:solidFill>
          <a:ln w="9525">
            <a:solidFill>
              <a:srgbClr val="D9D4C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325917" y="1618488"/>
            <a:ext cx="3088538" cy="56692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F4E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 类</a:t>
            </a:r>
            <a:endParaRPr lang="en-US" sz="3000" dirty="0"/>
          </a:p>
        </p:txBody>
      </p:sp>
      <p:sp>
        <p:nvSpPr>
          <p:cNvPr id="20" name="Text 18"/>
          <p:cNvSpPr/>
          <p:nvPr/>
        </p:nvSpPr>
        <p:spPr>
          <a:xfrm>
            <a:off x="8325917" y="2286000"/>
            <a:ext cx="308853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D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意图路由覆盖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8325917" y="2679192"/>
            <a:ext cx="3088538" cy="0"/>
          </a:xfrm>
          <a:prstGeom prst="line">
            <a:avLst/>
          </a:prstGeom>
          <a:noFill/>
          <a:ln w="9525">
            <a:solidFill>
              <a:srgbClr val="D9D4C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325917" y="2788920"/>
            <a:ext cx="308853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5A62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导航 / 多条件 / 指引 / 信息 / 会话 / 默认，规则可解释、可运营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548640" y="3886200"/>
            <a:ext cx="3545738" cy="2240280"/>
          </a:xfrm>
          <a:prstGeom prst="rect">
            <a:avLst/>
          </a:prstGeom>
          <a:solidFill>
            <a:srgbClr val="FFFFFF"/>
          </a:solidFill>
          <a:ln w="9525">
            <a:solidFill>
              <a:srgbClr val="D9D4C9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77240" y="4087368"/>
            <a:ext cx="3088538" cy="56692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F4E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毫秒级</a:t>
            </a:r>
            <a:endParaRPr lang="en-US" sz="3000" dirty="0"/>
          </a:p>
        </p:txBody>
      </p:sp>
      <p:sp>
        <p:nvSpPr>
          <p:cNvPr id="25" name="Text 23"/>
          <p:cNvSpPr/>
          <p:nvPr/>
        </p:nvSpPr>
        <p:spPr>
          <a:xfrm>
            <a:off x="777240" y="4754880"/>
            <a:ext cx="308853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D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关键词模式响应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777240" y="5148072"/>
            <a:ext cx="3088538" cy="0"/>
          </a:xfrm>
          <a:prstGeom prst="line">
            <a:avLst/>
          </a:prstGeom>
          <a:noFill/>
          <a:ln w="9525">
            <a:solidFill>
              <a:srgbClr val="D9D4C9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77240" y="5257800"/>
            <a:ext cx="308853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5A62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keyword 模式跳过 rerank 直出结果；hybrid 全程 P95 低于 1s 告警线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4322978" y="3886200"/>
            <a:ext cx="3545738" cy="2240280"/>
          </a:xfrm>
          <a:prstGeom prst="rect">
            <a:avLst/>
          </a:prstGeom>
          <a:solidFill>
            <a:srgbClr val="FFFFFF"/>
          </a:solidFill>
          <a:ln w="9525">
            <a:solidFill>
              <a:srgbClr val="D9D4C9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551578" y="4087368"/>
            <a:ext cx="3088538" cy="56692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2E7D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100%</a:t>
            </a:r>
            <a:endParaRPr lang="en-US" sz="3000" dirty="0"/>
          </a:p>
        </p:txBody>
      </p:sp>
      <p:sp>
        <p:nvSpPr>
          <p:cNvPr id="30" name="Text 28"/>
          <p:cNvSpPr/>
          <p:nvPr/>
        </p:nvSpPr>
        <p:spPr>
          <a:xfrm>
            <a:off x="4551578" y="4754880"/>
            <a:ext cx="308853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D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离线降级可用率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4551578" y="5148072"/>
            <a:ext cx="3088538" cy="0"/>
          </a:xfrm>
          <a:prstGeom prst="line">
            <a:avLst/>
          </a:prstGeom>
          <a:noFill/>
          <a:ln w="9525">
            <a:solidFill>
              <a:srgbClr val="D9D4C9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551578" y="5257800"/>
            <a:ext cx="308853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5A62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无 API Key 时向量 / 重排 / 理由全链路本地降级，演示不中断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8097317" y="3886200"/>
            <a:ext cx="3545738" cy="2240280"/>
          </a:xfrm>
          <a:prstGeom prst="rect">
            <a:avLst/>
          </a:prstGeom>
          <a:solidFill>
            <a:srgbClr val="FFFFFF"/>
          </a:solidFill>
          <a:ln w="9525">
            <a:solidFill>
              <a:srgbClr val="D9D4C9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325917" y="4087368"/>
            <a:ext cx="3088538" cy="56692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F4E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26 个</a:t>
            </a:r>
            <a:endParaRPr lang="en-US" sz="3000" dirty="0"/>
          </a:p>
        </p:txBody>
      </p:sp>
      <p:sp>
        <p:nvSpPr>
          <p:cNvPr id="35" name="Text 33"/>
          <p:cNvSpPr/>
          <p:nvPr/>
        </p:nvSpPr>
        <p:spPr>
          <a:xfrm>
            <a:off x="8325917" y="4754880"/>
            <a:ext cx="308853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D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自动化测试文件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8325917" y="5148072"/>
            <a:ext cx="3088538" cy="0"/>
          </a:xfrm>
          <a:prstGeom prst="line">
            <a:avLst/>
          </a:prstGeom>
          <a:noFill/>
          <a:ln w="9525">
            <a:solidFill>
              <a:srgbClr val="D9D4C9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325917" y="5257800"/>
            <a:ext cx="308853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5A62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引擎 / API / 安全 / 监控分层测试 + verify.py 端到端验证脚本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548640" y="6108192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AA1A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注：命中率 / 场景通过率来自内部评测集与冒烟用例；性能数据来自实时监控大盘埋点（可现场复核）。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5486400" cy="237744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b="1" kern="0" spc="200" dirty="0">
                <a:solidFill>
                  <a:srgbClr val="C892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PART 02 · 应用案例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30352"/>
            <a:ext cx="1109441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1A1D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命题四大核心场景实测：全部命中且可解释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548640" y="1170432"/>
            <a:ext cx="11094415" cy="0"/>
          </a:xfrm>
          <a:prstGeom prst="line">
            <a:avLst/>
          </a:prstGeom>
          <a:noFill/>
          <a:ln w="12700">
            <a:solidFill>
              <a:srgbClr val="D9D4C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6473952"/>
            <a:ext cx="11094415" cy="0"/>
          </a:xfrm>
          <a:prstGeom prst="line">
            <a:avLst/>
          </a:prstGeom>
          <a:noFill/>
          <a:ln w="9525">
            <a:solidFill>
              <a:srgbClr val="D9D4C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6528816"/>
            <a:ext cx="548640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9AA1A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EasySearch · 应用服务智能检索推荐引擎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185855" y="6528816"/>
            <a:ext cx="45720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00" dirty="0">
                <a:solidFill>
                  <a:srgbClr val="9AA1A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06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21792" y="1371600"/>
            <a:ext cx="411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1124712" y="1371600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9AA1A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场景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2953512" y="1371600"/>
            <a:ext cx="2971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9AA1A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用户输入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6016752" y="1371600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9AA1A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系统表现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10131552" y="1371600"/>
            <a:ext cx="14904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9AA1A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技术支撑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48640" y="1719072"/>
            <a:ext cx="11094415" cy="0"/>
          </a:xfrm>
          <a:prstGeom prst="line">
            <a:avLst/>
          </a:prstGeom>
          <a:noFill/>
          <a:ln w="12700">
            <a:solidFill>
              <a:srgbClr val="1A1D2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8640" y="1828800"/>
            <a:ext cx="11094415" cy="106070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5" name="Text 13"/>
          <p:cNvSpPr/>
          <p:nvPr/>
        </p:nvSpPr>
        <p:spPr>
          <a:xfrm>
            <a:off x="621792" y="2103120"/>
            <a:ext cx="411480" cy="36576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D8E2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124712" y="2084832"/>
            <a:ext cx="16824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1D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精准功能跳转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2953512" y="2011680"/>
            <a:ext cx="291693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F4E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「打开新股新债」「查看新股」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016752" y="1956816"/>
            <a:ext cx="396849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2000"/>
              </a:lnSpc>
              <a:buNone/>
            </a:pPr>
            <a:r>
              <a:rPr lang="en-US" sz="1050" dirty="0">
                <a:solidFill>
                  <a:srgbClr val="5A62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直达命中「新股新债」，导航意图置顶，即使未进 Top-10 也前置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10104120" y="2103120"/>
            <a:ext cx="1399032" cy="502920"/>
          </a:xfrm>
          <a:prstGeom prst="rect">
            <a:avLst/>
          </a:prstGeom>
          <a:solidFill>
            <a:srgbClr val="F3E9D2"/>
          </a:solidFill>
          <a:ln/>
        </p:spPr>
      </p:sp>
      <p:sp>
        <p:nvSpPr>
          <p:cNvPr id="20" name="Text 18"/>
          <p:cNvSpPr/>
          <p:nvPr/>
        </p:nvSpPr>
        <p:spPr>
          <a:xfrm>
            <a:off x="10177272" y="2139696"/>
            <a:ext cx="125272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900" b="1" dirty="0">
                <a:solidFill>
                  <a:srgbClr val="B97A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意图路由 · 别名/口语命中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621792" y="3273552"/>
            <a:ext cx="411480" cy="36576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D8E2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1124712" y="3255264"/>
            <a:ext cx="16824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1D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需求能力匹配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2953512" y="3182112"/>
            <a:ext cx="291693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F4E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「我想把银行的钱转到证券账户」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016752" y="3127248"/>
            <a:ext cx="396849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2000"/>
              </a:lnSpc>
              <a:buNone/>
            </a:pPr>
            <a:r>
              <a:rPr lang="en-US" sz="1050" dirty="0">
                <a:solidFill>
                  <a:srgbClr val="5A62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推荐「银证转账」类服务，向量语义理解跨表述需求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10104120" y="3273552"/>
            <a:ext cx="1399032" cy="502920"/>
          </a:xfrm>
          <a:prstGeom prst="rect">
            <a:avLst/>
          </a:prstGeom>
          <a:solidFill>
            <a:srgbClr val="F3E9D2"/>
          </a:solidFill>
          <a:ln/>
        </p:spPr>
      </p:sp>
      <p:sp>
        <p:nvSpPr>
          <p:cNvPr id="26" name="Text 24"/>
          <p:cNvSpPr/>
          <p:nvPr/>
        </p:nvSpPr>
        <p:spPr>
          <a:xfrm>
            <a:off x="10177272" y="3310128"/>
            <a:ext cx="125272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900" b="1" dirty="0">
                <a:solidFill>
                  <a:srgbClr val="B97A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语义检索 · 同义词扩展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548640" y="4169664"/>
            <a:ext cx="11094415" cy="106070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8" name="Text 26"/>
          <p:cNvSpPr/>
          <p:nvPr/>
        </p:nvSpPr>
        <p:spPr>
          <a:xfrm>
            <a:off x="621792" y="4443984"/>
            <a:ext cx="411480" cy="36576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D8E2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1124712" y="4425696"/>
            <a:ext cx="16824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1D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泛化需求组合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2953512" y="4352544"/>
            <a:ext cx="291693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F4E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「新手刚开户，从哪开始」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016752" y="4297680"/>
            <a:ext cx="396849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2000"/>
              </a:lnSpc>
              <a:buNone/>
            </a:pPr>
            <a:r>
              <a:rPr lang="en-US" sz="1050" dirty="0">
                <a:solidFill>
                  <a:srgbClr val="5A62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组合推荐开户 / 看行情 / 模拟学习 ≥2 个服务，并给出步骤化顺序说明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10104120" y="4443984"/>
            <a:ext cx="1399032" cy="502920"/>
          </a:xfrm>
          <a:prstGeom prst="rect">
            <a:avLst/>
          </a:prstGeom>
          <a:solidFill>
            <a:srgbClr val="F3E9D2"/>
          </a:solidFill>
          <a:ln/>
        </p:spPr>
      </p:sp>
      <p:sp>
        <p:nvSpPr>
          <p:cNvPr id="33" name="Text 31"/>
          <p:cNvSpPr/>
          <p:nvPr/>
        </p:nvSpPr>
        <p:spPr>
          <a:xfrm>
            <a:off x="10177272" y="4480560"/>
            <a:ext cx="125272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900" b="1" dirty="0">
                <a:solidFill>
                  <a:srgbClr val="B97A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guide 意图 · 步骤化答案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621792" y="5614416"/>
            <a:ext cx="411480" cy="36576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D8E2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1500" dirty="0"/>
          </a:p>
        </p:txBody>
      </p:sp>
      <p:sp>
        <p:nvSpPr>
          <p:cNvPr id="35" name="Text 33"/>
          <p:cNvSpPr/>
          <p:nvPr/>
        </p:nvSpPr>
        <p:spPr>
          <a:xfrm>
            <a:off x="1124712" y="5596128"/>
            <a:ext cx="16824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1D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无关提问兜底</a:t>
            </a:r>
            <a:endParaRPr lang="en-US" sz="1250" dirty="0"/>
          </a:p>
        </p:txBody>
      </p:sp>
      <p:sp>
        <p:nvSpPr>
          <p:cNvPr id="36" name="Text 34"/>
          <p:cNvSpPr/>
          <p:nvPr/>
        </p:nvSpPr>
        <p:spPr>
          <a:xfrm>
            <a:off x="2953512" y="5522976"/>
            <a:ext cx="291693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F4E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「今天天气怎么样」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6016752" y="5468112"/>
            <a:ext cx="396849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2000"/>
              </a:lnSpc>
              <a:buNone/>
            </a:pPr>
            <a:r>
              <a:rPr lang="en-US" sz="1050" dirty="0">
                <a:solidFill>
                  <a:srgbClr val="5A62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明确提示未命中库内服务并给出澄清引导，绝不编造不存在的服务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10104120" y="5614416"/>
            <a:ext cx="1399032" cy="502920"/>
          </a:xfrm>
          <a:prstGeom prst="rect">
            <a:avLst/>
          </a:prstGeom>
          <a:solidFill>
            <a:srgbClr val="F3E9D2"/>
          </a:solidFill>
          <a:ln/>
        </p:spPr>
      </p:sp>
      <p:sp>
        <p:nvSpPr>
          <p:cNvPr id="39" name="Text 37"/>
          <p:cNvSpPr/>
          <p:nvPr/>
        </p:nvSpPr>
        <p:spPr>
          <a:xfrm>
            <a:off x="10177272" y="5650992"/>
            <a:ext cx="125272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900" b="1" dirty="0">
                <a:solidFill>
                  <a:srgbClr val="B97A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低置信评估 · 安全兜底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548640" y="6108192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A62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用户反馈（内部试用）：「不用记菜单位置，说一句话就能跳到办理入口」——服务触达从 3~5 步菜单操作缩短为 1 次搜索。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5486400" cy="237744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b="1" kern="0" spc="200" dirty="0">
                <a:solidFill>
                  <a:srgbClr val="C892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PART 02 · 落地情况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30352"/>
            <a:ext cx="1109441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1A1D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试点上线：三端页面交付，具备灰度与运维能力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548640" y="1170432"/>
            <a:ext cx="11094415" cy="0"/>
          </a:xfrm>
          <a:prstGeom prst="line">
            <a:avLst/>
          </a:prstGeom>
          <a:noFill/>
          <a:ln w="12700">
            <a:solidFill>
              <a:srgbClr val="D9D4C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6473952"/>
            <a:ext cx="11094415" cy="0"/>
          </a:xfrm>
          <a:prstGeom prst="line">
            <a:avLst/>
          </a:prstGeom>
          <a:noFill/>
          <a:ln w="9525">
            <a:solidFill>
              <a:srgbClr val="D9D4C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6528816"/>
            <a:ext cx="548640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9AA1A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EasySearch · 应用服务智能检索推荐引擎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185855" y="6528816"/>
            <a:ext cx="45720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00" dirty="0">
                <a:solidFill>
                  <a:srgbClr val="9AA1A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07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48640" y="1417320"/>
            <a:ext cx="3545738" cy="23774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4C9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" y="1417320"/>
            <a:ext cx="45720" cy="2377440"/>
          </a:xfrm>
          <a:prstGeom prst="rect">
            <a:avLst/>
          </a:prstGeom>
          <a:solidFill>
            <a:srgbClr val="1F4E79"/>
          </a:solidFill>
          <a:ln/>
        </p:spPr>
      </p:sp>
      <p:sp>
        <p:nvSpPr>
          <p:cNvPr id="10" name="Text 8"/>
          <p:cNvSpPr/>
          <p:nvPr/>
        </p:nvSpPr>
        <p:spPr>
          <a:xfrm>
            <a:off x="713232" y="1527048"/>
            <a:ext cx="3271418" cy="20116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F4E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面向用户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713232" y="1746504"/>
            <a:ext cx="321655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D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搜索主页（已上线）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13232" y="2093976"/>
            <a:ext cx="3216554" cy="1591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5A62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自然语言搜索 + 自动补全 + 三种检索模式（混合/关键词/语义）+ 高级多条件搜索 + 会话模式 + 深度组件直达；热门、搜索历史、猜你想用协同推荐。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322978" y="1417320"/>
            <a:ext cx="3545738" cy="23774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4C9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322978" y="1417320"/>
            <a:ext cx="45720" cy="2377440"/>
          </a:xfrm>
          <a:prstGeom prst="rect">
            <a:avLst/>
          </a:prstGeom>
          <a:solidFill>
            <a:srgbClr val="1F4E79"/>
          </a:solidFill>
          <a:ln/>
        </p:spPr>
      </p:sp>
      <p:sp>
        <p:nvSpPr>
          <p:cNvPr id="15" name="Text 13"/>
          <p:cNvSpPr/>
          <p:nvPr/>
        </p:nvSpPr>
        <p:spPr>
          <a:xfrm>
            <a:off x="4487570" y="1527048"/>
            <a:ext cx="3271418" cy="20116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F4E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面向运营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487570" y="1746504"/>
            <a:ext cx="321655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D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知识库管理台（已上线）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487570" y="2093976"/>
            <a:ext cx="3216554" cy="1591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5A62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知识库导入 / 导出 / 版本列表 / 一键回滚 / Embedding 进度可视化；内容寻址快照，版本切换秒级生效，300 条金融服务数据已入库。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8097317" y="1417320"/>
            <a:ext cx="3545738" cy="23774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4C9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097317" y="1417320"/>
            <a:ext cx="45720" cy="2377440"/>
          </a:xfrm>
          <a:prstGeom prst="rect">
            <a:avLst/>
          </a:prstGeom>
          <a:solidFill>
            <a:srgbClr val="1F4E79"/>
          </a:solidFill>
          <a:ln/>
        </p:spPr>
      </p:sp>
      <p:sp>
        <p:nvSpPr>
          <p:cNvPr id="20" name="Text 18"/>
          <p:cNvSpPr/>
          <p:nvPr/>
        </p:nvSpPr>
        <p:spPr>
          <a:xfrm>
            <a:off x="8261909" y="1527048"/>
            <a:ext cx="3271418" cy="20116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F4E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面向运维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8261909" y="1746504"/>
            <a:ext cx="321655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D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实时性能大盘（已上线）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8261909" y="2093976"/>
            <a:ext cx="3216554" cy="1591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5A62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SSE 秒级推送：QPS / 错误率 / 缓存命中率 / 降级计数 / P50·P95·P99 分位 / 外部模型健康度，异常自动高亮并触发告警。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548640" y="4069080"/>
            <a:ext cx="2743200" cy="25603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b="1" kern="0" spc="200" dirty="0">
                <a:solidFill>
                  <a:srgbClr val="C892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落地节奏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48640" y="4434840"/>
            <a:ext cx="2602154" cy="16916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4C9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13232" y="4562856"/>
            <a:ext cx="137160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C892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阶段 1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713232" y="4818888"/>
            <a:ext cx="227297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A1D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数据建设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713232" y="5184648"/>
            <a:ext cx="227297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5A62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300 条金融服务数据扩展、Markdown 清洗、归一化与同义词挖掘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132506" y="507492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892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3379394" y="4434840"/>
            <a:ext cx="2602154" cy="16916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4C9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543986" y="4562856"/>
            <a:ext cx="137160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C892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阶段 2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3543986" y="4818888"/>
            <a:ext cx="227297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A1D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算法链路</a:t>
            </a:r>
            <a:endParaRPr lang="en-US" sz="1350" dirty="0"/>
          </a:p>
        </p:txBody>
      </p:sp>
      <p:sp>
        <p:nvSpPr>
          <p:cNvPr id="32" name="Text 30"/>
          <p:cNvSpPr/>
          <p:nvPr/>
        </p:nvSpPr>
        <p:spPr>
          <a:xfrm>
            <a:off x="3543986" y="5184648"/>
            <a:ext cx="227297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5A62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混合检索 + DIN + 重排 + MMR + 协同推荐全链路打通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5963260" y="507492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892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210148" y="4434840"/>
            <a:ext cx="2602154" cy="16916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4C9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374740" y="4562856"/>
            <a:ext cx="137160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C892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阶段 3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6374740" y="4818888"/>
            <a:ext cx="227297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A1D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功能闭环</a:t>
            </a:r>
            <a:endParaRPr lang="en-US" sz="1350" dirty="0"/>
          </a:p>
        </p:txBody>
      </p:sp>
      <p:sp>
        <p:nvSpPr>
          <p:cNvPr id="37" name="Text 35"/>
          <p:cNvSpPr/>
          <p:nvPr/>
        </p:nvSpPr>
        <p:spPr>
          <a:xfrm>
            <a:off x="6374740" y="5184648"/>
            <a:ext cx="227297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5A62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意图路由 / 多条件 / 长程对话 / 深度组件 / 兜底 全量交付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8794013" y="507492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892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9040901" y="4434840"/>
            <a:ext cx="2602154" cy="16916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4C9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9205493" y="4562856"/>
            <a:ext cx="137160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C892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阶段 4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9205493" y="4818888"/>
            <a:ext cx="227297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A1D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生产加固</a:t>
            </a:r>
            <a:endParaRPr lang="en-US" sz="1350" dirty="0"/>
          </a:p>
        </p:txBody>
      </p:sp>
      <p:sp>
        <p:nvSpPr>
          <p:cNvPr id="42" name="Text 40"/>
          <p:cNvSpPr/>
          <p:nvPr/>
        </p:nvSpPr>
        <p:spPr>
          <a:xfrm>
            <a:off x="9205493" y="5184648"/>
            <a:ext cx="227297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5A62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监控告警 / 安全中间件 / 全链路降级 / 26 个测试文件护航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5486400" cy="237744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b="1" kern="0" spc="200" dirty="0">
                <a:solidFill>
                  <a:srgbClr val="C892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PART 03 · 创新价值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30352"/>
            <a:ext cx="1109441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1A1D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系统架构：五层解耦，软依赖可降级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548640" y="1170432"/>
            <a:ext cx="11094415" cy="0"/>
          </a:xfrm>
          <a:prstGeom prst="line">
            <a:avLst/>
          </a:prstGeom>
          <a:noFill/>
          <a:ln w="12700">
            <a:solidFill>
              <a:srgbClr val="D9D4C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6473952"/>
            <a:ext cx="11094415" cy="0"/>
          </a:xfrm>
          <a:prstGeom prst="line">
            <a:avLst/>
          </a:prstGeom>
          <a:noFill/>
          <a:ln w="9525">
            <a:solidFill>
              <a:srgbClr val="D9D4C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6528816"/>
            <a:ext cx="548640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9AA1A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EasySearch · 应用服务智能检索推荐引擎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185855" y="6528816"/>
            <a:ext cx="45720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00" dirty="0">
                <a:solidFill>
                  <a:srgbClr val="9AA1A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08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1188720" y="1371600"/>
            <a:ext cx="10454335" cy="896112"/>
          </a:xfrm>
          <a:prstGeom prst="rect">
            <a:avLst/>
          </a:prstGeom>
          <a:solidFill>
            <a:srgbClr val="FFFFFF"/>
          </a:solidFill>
          <a:ln w="9525">
            <a:solidFill>
              <a:srgbClr val="D9D4C9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" y="1371600"/>
            <a:ext cx="640080" cy="896112"/>
          </a:xfrm>
          <a:prstGeom prst="rect">
            <a:avLst/>
          </a:prstGeom>
          <a:solidFill>
            <a:srgbClr val="1F4E79"/>
          </a:solidFill>
          <a:ln/>
        </p:spPr>
      </p:sp>
      <p:sp>
        <p:nvSpPr>
          <p:cNvPr id="10" name="Text 8"/>
          <p:cNvSpPr/>
          <p:nvPr/>
        </p:nvSpPr>
        <p:spPr>
          <a:xfrm>
            <a:off x="603504" y="1371600"/>
            <a:ext cx="54864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前端层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1417320" y="1371600"/>
            <a:ext cx="9997135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A1D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搜索主页 · 知识库管理 · 实时大盘（零构建原生 JS，液态玻璃 UI，SSE 订阅）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958688" y="2212848"/>
            <a:ext cx="274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AA1A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▼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1188720" y="2359152"/>
            <a:ext cx="10454335" cy="896112"/>
          </a:xfrm>
          <a:prstGeom prst="rect">
            <a:avLst/>
          </a:prstGeom>
          <a:solidFill>
            <a:srgbClr val="FFFFFF"/>
          </a:solidFill>
          <a:ln w="9525">
            <a:solidFill>
              <a:srgbClr val="D9D4C9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8640" y="2359152"/>
            <a:ext cx="640080" cy="896112"/>
          </a:xfrm>
          <a:prstGeom prst="rect">
            <a:avLst/>
          </a:prstGeom>
          <a:solidFill>
            <a:srgbClr val="1F4E79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" y="2359152"/>
            <a:ext cx="54864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API 层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1417320" y="2359152"/>
            <a:ext cx="9997135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A1D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FastAPI 30+ 端点 · Pydantic 校验 · 三中间件：限流(429) → 体积(413) → 鉴权(401)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958688" y="3200400"/>
            <a:ext cx="274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AA1A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▼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1188720" y="3346704"/>
            <a:ext cx="10454335" cy="896112"/>
          </a:xfrm>
          <a:prstGeom prst="rect">
            <a:avLst/>
          </a:prstGeom>
          <a:solidFill>
            <a:srgbClr val="F3E9D2"/>
          </a:solidFill>
          <a:ln w="9525">
            <a:solidFill>
              <a:srgbClr val="D9D4C9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48640" y="3346704"/>
            <a:ext cx="640080" cy="896112"/>
          </a:xfrm>
          <a:prstGeom prst="rect">
            <a:avLst/>
          </a:prstGeom>
          <a:solidFill>
            <a:srgbClr val="C8922A"/>
          </a:solidFill>
          <a:ln/>
        </p:spPr>
      </p:sp>
      <p:sp>
        <p:nvSpPr>
          <p:cNvPr id="20" name="Text 18"/>
          <p:cNvSpPr/>
          <p:nvPr/>
        </p:nvSpPr>
        <p:spPr>
          <a:xfrm>
            <a:off x="603504" y="3346704"/>
            <a:ext cx="54864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引擎编排层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1417320" y="3346704"/>
            <a:ext cx="9997135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A1D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ServiceSearchEngine：</a:t>
            </a:r>
            <a:r>
              <a:rPr lang="en-US" sz="1600" dirty="0">
                <a:solidFill>
                  <a:srgbClr val="FF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意图路由 → 召回 → 重排 → MMR → 深度检索 → 缓存 → 日志 · 监控埋点 · 告警评估</a:t>
            </a:r>
            <a:endParaRPr lang="en-US" sz="1200" dirty="0">
              <a:solidFill>
                <a:srgbClr val="FF0000"/>
              </a:solidFill>
            </a:endParaRPr>
          </a:p>
        </p:txBody>
      </p:sp>
      <p:sp>
        <p:nvSpPr>
          <p:cNvPr id="22" name="Text 20"/>
          <p:cNvSpPr/>
          <p:nvPr/>
        </p:nvSpPr>
        <p:spPr>
          <a:xfrm>
            <a:off x="5958688" y="4187952"/>
            <a:ext cx="274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AA1A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▼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1188720" y="4334256"/>
            <a:ext cx="10454335" cy="896112"/>
          </a:xfrm>
          <a:prstGeom prst="rect">
            <a:avLst/>
          </a:prstGeom>
          <a:solidFill>
            <a:srgbClr val="FFFFFF"/>
          </a:solidFill>
          <a:ln w="9525">
            <a:solidFill>
              <a:srgbClr val="D9D4C9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48640" y="4334256"/>
            <a:ext cx="640080" cy="896112"/>
          </a:xfrm>
          <a:prstGeom prst="rect">
            <a:avLst/>
          </a:prstGeom>
          <a:solidFill>
            <a:srgbClr val="1F4E79"/>
          </a:solidFill>
          <a:ln/>
        </p:spPr>
      </p:sp>
      <p:sp>
        <p:nvSpPr>
          <p:cNvPr id="25" name="Text 23"/>
          <p:cNvSpPr/>
          <p:nvPr/>
        </p:nvSpPr>
        <p:spPr>
          <a:xfrm>
            <a:off x="603504" y="4334256"/>
            <a:ext cx="54864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核心组件层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1417320" y="4334256"/>
            <a:ext cx="9997135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A1D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BM25 倒排 · FAISS 向量 · DIN 注意力 · Reranker · Intent · Cache · Safety · Metrics · Store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958688" y="5175504"/>
            <a:ext cx="274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AA1A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▼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1188720" y="5321808"/>
            <a:ext cx="10454335" cy="896112"/>
          </a:xfrm>
          <a:prstGeom prst="rect">
            <a:avLst/>
          </a:prstGeom>
          <a:solidFill>
            <a:srgbClr val="FFFFFF"/>
          </a:solidFill>
          <a:ln w="9525">
            <a:solidFill>
              <a:srgbClr val="D9D4C9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48640" y="5321808"/>
            <a:ext cx="640080" cy="896112"/>
          </a:xfrm>
          <a:prstGeom prst="rect">
            <a:avLst/>
          </a:prstGeom>
          <a:solidFill>
            <a:srgbClr val="1F4E79"/>
          </a:solidFill>
          <a:ln/>
        </p:spPr>
      </p:sp>
      <p:sp>
        <p:nvSpPr>
          <p:cNvPr id="30" name="Text 28"/>
          <p:cNvSpPr/>
          <p:nvPr/>
        </p:nvSpPr>
        <p:spPr>
          <a:xfrm>
            <a:off x="603504" y="5321808"/>
            <a:ext cx="54864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外部依赖层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1417320" y="5321808"/>
            <a:ext cx="9997135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A1D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DashScope(qwen 向量/重排) · DeepSeek(理由) · SQLite · Redis(可选) · jieba · numpy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548640" y="621792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62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技术选型：Python 3.10+ / FastAPI / SQLite / FAISS / jieba / httpx 异步连接池 —— 所有非标依赖均为软依赖，缺失自动降级。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5486400" cy="237744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b="1" kern="0" spc="200" dirty="0">
                <a:solidFill>
                  <a:srgbClr val="C892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PART 03 · 工作流程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30352"/>
            <a:ext cx="1109441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1A1D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主搜索流水线：一次 query 的完整旅程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548640" y="1170432"/>
            <a:ext cx="11094415" cy="0"/>
          </a:xfrm>
          <a:prstGeom prst="line">
            <a:avLst/>
          </a:prstGeom>
          <a:noFill/>
          <a:ln w="12700">
            <a:solidFill>
              <a:srgbClr val="D9D4C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6473952"/>
            <a:ext cx="11094415" cy="0"/>
          </a:xfrm>
          <a:prstGeom prst="line">
            <a:avLst/>
          </a:prstGeom>
          <a:noFill/>
          <a:ln w="9525">
            <a:solidFill>
              <a:srgbClr val="D9D4C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6528816"/>
            <a:ext cx="548640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9AA1A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EasySearch · 应用服务智能检索推荐引擎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185855" y="6528816"/>
            <a:ext cx="45720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00" dirty="0">
                <a:solidFill>
                  <a:srgbClr val="9AA1A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09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48640" y="1600200"/>
            <a:ext cx="1658569" cy="1554480"/>
          </a:xfrm>
          <a:prstGeom prst="rect">
            <a:avLst/>
          </a:prstGeom>
          <a:solidFill>
            <a:srgbClr val="FFFFFF"/>
          </a:solidFill>
          <a:ln w="9525">
            <a:solidFill>
              <a:srgbClr val="D9D4C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21792" y="1728216"/>
            <a:ext cx="151226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F4E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① 安全清洗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85800" y="2112264"/>
            <a:ext cx="1384249" cy="0"/>
          </a:xfrm>
          <a:prstGeom prst="line">
            <a:avLst/>
          </a:prstGeom>
          <a:noFill/>
          <a:ln w="9525">
            <a:solidFill>
              <a:srgbClr val="D9D4C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21792" y="2203704"/>
            <a:ext cx="151226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950" dirty="0">
                <a:solidFill>
                  <a:srgbClr val="5A62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注入防御</a:t>
            </a:r>
            <a:endParaRPr lang="en-US" sz="950" dirty="0"/>
          </a:p>
          <a:p>
            <a:pPr marL="0" indent="0" algn="ctr">
              <a:lnSpc>
                <a:spcPct val="125000"/>
              </a:lnSpc>
              <a:buNone/>
            </a:pPr>
            <a:r>
              <a:rPr lang="en-US" sz="950" dirty="0">
                <a:solidFill>
                  <a:srgbClr val="5A62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特殊字符过滤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179777" y="2221992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C892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▶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435809" y="1600200"/>
            <a:ext cx="1658569" cy="1554480"/>
          </a:xfrm>
          <a:prstGeom prst="rect">
            <a:avLst/>
          </a:prstGeom>
          <a:solidFill>
            <a:srgbClr val="FFFFFF"/>
          </a:solidFill>
          <a:ln w="9525">
            <a:solidFill>
              <a:srgbClr val="D9D4C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508961" y="1728216"/>
            <a:ext cx="151226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F4E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② 缓存查询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2572969" y="2112264"/>
            <a:ext cx="1384249" cy="0"/>
          </a:xfrm>
          <a:prstGeom prst="line">
            <a:avLst/>
          </a:prstGeom>
          <a:noFill/>
          <a:ln w="9525">
            <a:solidFill>
              <a:srgbClr val="D9D4C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508961" y="2203704"/>
            <a:ext cx="151226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950" dirty="0">
                <a:solidFill>
                  <a:srgbClr val="5A62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Redis 5min</a:t>
            </a:r>
            <a:endParaRPr lang="en-US" sz="950" dirty="0"/>
          </a:p>
          <a:p>
            <a:pPr marL="0" indent="0" algn="ctr">
              <a:lnSpc>
                <a:spcPct val="125000"/>
              </a:lnSpc>
              <a:buNone/>
            </a:pPr>
            <a:r>
              <a:rPr lang="en-US" sz="950" dirty="0">
                <a:solidFill>
                  <a:srgbClr val="5A62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命中直接返回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4066946" y="2221992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C892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▶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322978" y="1600200"/>
            <a:ext cx="1658569" cy="1554480"/>
          </a:xfrm>
          <a:prstGeom prst="rect">
            <a:avLst/>
          </a:prstGeom>
          <a:solidFill>
            <a:srgbClr val="D8E2EE"/>
          </a:solidFill>
          <a:ln w="9525">
            <a:solidFill>
              <a:srgbClr val="D9D4C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396130" y="1728216"/>
            <a:ext cx="151226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F4E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③ 混合召回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460138" y="2112264"/>
            <a:ext cx="1384249" cy="0"/>
          </a:xfrm>
          <a:prstGeom prst="line">
            <a:avLst/>
          </a:prstGeom>
          <a:noFill/>
          <a:ln w="9525">
            <a:solidFill>
              <a:srgbClr val="D9D4C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396130" y="2203704"/>
            <a:ext cx="151226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950" dirty="0">
                <a:solidFill>
                  <a:srgbClr val="5A62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向量 0.6 + BM25 0.3</a:t>
            </a:r>
            <a:endParaRPr lang="en-US" sz="950" dirty="0"/>
          </a:p>
          <a:p>
            <a:pPr marL="0" indent="0" algn="ctr">
              <a:lnSpc>
                <a:spcPct val="125000"/>
              </a:lnSpc>
              <a:buNone/>
            </a:pPr>
            <a:r>
              <a:rPr lang="en-US" sz="950" dirty="0">
                <a:solidFill>
                  <a:srgbClr val="5A62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+ 热门性 0.1 → Top-20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5954116" y="2221992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C892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▶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210148" y="1600200"/>
            <a:ext cx="1658569" cy="1554480"/>
          </a:xfrm>
          <a:prstGeom prst="rect">
            <a:avLst/>
          </a:prstGeom>
          <a:solidFill>
            <a:srgbClr val="FFFFFF"/>
          </a:solidFill>
          <a:ln w="9525">
            <a:solidFill>
              <a:srgbClr val="D9D4C9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283300" y="1728216"/>
            <a:ext cx="151226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F4E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④ 精排并发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347308" y="2112264"/>
            <a:ext cx="1384249" cy="0"/>
          </a:xfrm>
          <a:prstGeom prst="line">
            <a:avLst/>
          </a:prstGeom>
          <a:noFill/>
          <a:ln w="9525">
            <a:solidFill>
              <a:srgbClr val="D9D4C9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255868" y="2208276"/>
            <a:ext cx="155798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950" dirty="0">
                <a:solidFill>
                  <a:srgbClr val="5A62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qwen 重排 + </a:t>
            </a:r>
            <a:r>
              <a:rPr lang="en-US" altLang="zh-CN" sz="950" dirty="0" err="1">
                <a:solidFill>
                  <a:srgbClr val="5A62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deepseek</a:t>
            </a:r>
            <a:r>
              <a:rPr lang="en-US" sz="950" dirty="0" err="1">
                <a:solidFill>
                  <a:srgbClr val="5A62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理由</a:t>
            </a:r>
            <a:endParaRPr lang="en-US" sz="950" dirty="0"/>
          </a:p>
          <a:p>
            <a:pPr marL="0" indent="0" algn="ctr">
              <a:lnSpc>
                <a:spcPct val="125000"/>
              </a:lnSpc>
              <a:buNone/>
            </a:pPr>
            <a:r>
              <a:rPr lang="en-US" sz="950" dirty="0">
                <a:solidFill>
                  <a:srgbClr val="5A62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asyncio.gather 并发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7841285" y="2221992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C892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▶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8097317" y="1600200"/>
            <a:ext cx="1658569" cy="1554480"/>
          </a:xfrm>
          <a:prstGeom prst="rect">
            <a:avLst/>
          </a:prstGeom>
          <a:solidFill>
            <a:srgbClr val="FFFFFF"/>
          </a:solidFill>
          <a:ln w="9525">
            <a:solidFill>
              <a:srgbClr val="D9D4C9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170469" y="1728216"/>
            <a:ext cx="151226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F4E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⑤ 多样性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8234477" y="2112264"/>
            <a:ext cx="1384249" cy="0"/>
          </a:xfrm>
          <a:prstGeom prst="line">
            <a:avLst/>
          </a:prstGeom>
          <a:noFill/>
          <a:ln w="9525">
            <a:solidFill>
              <a:srgbClr val="D9D4C9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170469" y="2203704"/>
            <a:ext cx="151226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950" dirty="0">
                <a:solidFill>
                  <a:srgbClr val="5A62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MMR λ=0.85</a:t>
            </a:r>
            <a:endParaRPr lang="en-US" sz="950" dirty="0"/>
          </a:p>
          <a:p>
            <a:pPr marL="0" indent="0" algn="ctr">
              <a:lnSpc>
                <a:spcPct val="125000"/>
              </a:lnSpc>
              <a:buNone/>
            </a:pPr>
            <a:r>
              <a:rPr lang="en-US" sz="950" dirty="0">
                <a:solidFill>
                  <a:srgbClr val="5A62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Top-20 → Top-10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9728454" y="2221992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C892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▶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9984486" y="1600200"/>
            <a:ext cx="1658569" cy="1554480"/>
          </a:xfrm>
          <a:prstGeom prst="rect">
            <a:avLst/>
          </a:prstGeom>
          <a:solidFill>
            <a:srgbClr val="FFFFFF"/>
          </a:solidFill>
          <a:ln w="9525">
            <a:solidFill>
              <a:srgbClr val="D9D4C9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0057638" y="1728216"/>
            <a:ext cx="151226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F4E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⑥ 意图路由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10121646" y="2112264"/>
            <a:ext cx="1384249" cy="0"/>
          </a:xfrm>
          <a:prstGeom prst="line">
            <a:avLst/>
          </a:prstGeom>
          <a:noFill/>
          <a:ln w="9525">
            <a:solidFill>
              <a:srgbClr val="D9D4C9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0057638" y="2203704"/>
            <a:ext cx="151226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950" dirty="0">
                <a:solidFill>
                  <a:srgbClr val="5A62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六分类分发</a:t>
            </a:r>
            <a:endParaRPr lang="en-US" sz="950" dirty="0"/>
          </a:p>
          <a:p>
            <a:pPr marL="0" indent="0" algn="ctr">
              <a:lnSpc>
                <a:spcPct val="125000"/>
              </a:lnSpc>
              <a:buNone/>
            </a:pPr>
            <a:r>
              <a:rPr lang="en-US" sz="950" dirty="0">
                <a:solidFill>
                  <a:srgbClr val="5A62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导航直达/兜底澄清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548640" y="3520440"/>
            <a:ext cx="3545738" cy="25146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4C9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548640" y="3520440"/>
            <a:ext cx="45720" cy="2514600"/>
          </a:xfrm>
          <a:prstGeom prst="rect">
            <a:avLst/>
          </a:prstGeom>
          <a:solidFill>
            <a:srgbClr val="C8922A"/>
          </a:solidFill>
          <a:ln/>
        </p:spPr>
      </p:sp>
      <p:sp>
        <p:nvSpPr>
          <p:cNvPr id="39" name="Text 37"/>
          <p:cNvSpPr/>
          <p:nvPr/>
        </p:nvSpPr>
        <p:spPr>
          <a:xfrm>
            <a:off x="713232" y="3630168"/>
            <a:ext cx="3271418" cy="20116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C892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相关性增强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713232" y="3849624"/>
            <a:ext cx="321655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D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让「搜得准」更进一步</a:t>
            </a:r>
            <a:endParaRPr lang="en-US" sz="1400" dirty="0"/>
          </a:p>
        </p:txBody>
      </p:sp>
      <p:sp>
        <p:nvSpPr>
          <p:cNvPr id="41" name="Text 39"/>
          <p:cNvSpPr/>
          <p:nvPr/>
        </p:nvSpPr>
        <p:spPr>
          <a:xfrm>
            <a:off x="713232" y="4197096"/>
            <a:ext cx="3216554" cy="1728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5A62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同义词扩展（词典+KB 动态抽取）· 多字段 BM25（名称3.0/别名2.0/路由1.5/简介1.0）· Levenshtein 拼写纠错 · 30 天时间衰减热门性 · 快速跳出负反馈降权。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4322978" y="3520440"/>
            <a:ext cx="3545738" cy="25146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4C9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4322978" y="3520440"/>
            <a:ext cx="45720" cy="2514600"/>
          </a:xfrm>
          <a:prstGeom prst="rect">
            <a:avLst/>
          </a:prstGeom>
          <a:solidFill>
            <a:srgbClr val="C8922A"/>
          </a:solidFill>
          <a:ln/>
        </p:spPr>
      </p:sp>
      <p:sp>
        <p:nvSpPr>
          <p:cNvPr id="44" name="Text 42"/>
          <p:cNvSpPr/>
          <p:nvPr/>
        </p:nvSpPr>
        <p:spPr>
          <a:xfrm>
            <a:off x="4487570" y="3630168"/>
            <a:ext cx="3271418" cy="20116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C892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个性化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4487570" y="3849624"/>
            <a:ext cx="321655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D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越用越懂你</a:t>
            </a:r>
            <a:endParaRPr lang="en-US" sz="1400" dirty="0"/>
          </a:p>
        </p:txBody>
      </p:sp>
      <p:sp>
        <p:nvSpPr>
          <p:cNvPr id="46" name="Text 44"/>
          <p:cNvSpPr/>
          <p:nvPr/>
        </p:nvSpPr>
        <p:spPr>
          <a:xfrm>
            <a:off x="4487570" y="4197096"/>
            <a:ext cx="3216554" cy="1728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5A62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DIN 历史序列注意力（历史 &gt;10 条触发）优化 query 向量；协同过滤「猜你想用」；长程对话 session 级 DIN 融合，支持逐轮回撤。</a:t>
            </a:r>
            <a:endParaRPr lang="en-US" sz="1050" dirty="0"/>
          </a:p>
        </p:txBody>
      </p:sp>
      <p:sp>
        <p:nvSpPr>
          <p:cNvPr id="47" name="Shape 45"/>
          <p:cNvSpPr/>
          <p:nvPr/>
        </p:nvSpPr>
        <p:spPr>
          <a:xfrm>
            <a:off x="8097317" y="3520440"/>
            <a:ext cx="3545738" cy="25146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4C9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8097317" y="3520440"/>
            <a:ext cx="45720" cy="2514600"/>
          </a:xfrm>
          <a:prstGeom prst="rect">
            <a:avLst/>
          </a:prstGeom>
          <a:solidFill>
            <a:srgbClr val="C8922A"/>
          </a:solidFill>
          <a:ln/>
        </p:spPr>
      </p:sp>
      <p:sp>
        <p:nvSpPr>
          <p:cNvPr id="49" name="Text 47"/>
          <p:cNvSpPr/>
          <p:nvPr/>
        </p:nvSpPr>
        <p:spPr>
          <a:xfrm>
            <a:off x="8261909" y="3630168"/>
            <a:ext cx="3271418" cy="20116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C892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低置信自救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8261909" y="3849624"/>
            <a:ext cx="321655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D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二次深度检索</a:t>
            </a:r>
            <a:endParaRPr lang="en-US" sz="1400" dirty="0"/>
          </a:p>
        </p:txBody>
      </p:sp>
      <p:sp>
        <p:nvSpPr>
          <p:cNvPr id="51" name="Text 49"/>
          <p:cNvSpPr/>
          <p:nvPr/>
        </p:nvSpPr>
        <p:spPr>
          <a:xfrm>
            <a:off x="8261909" y="4197096"/>
            <a:ext cx="3216554" cy="1728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5A62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头部分离不足 / 命中稀疏 / 低相关时自动触发一次：query 扩展（同义词+共现词）→ 重检 Top-30 → RRF 融合，标注 deep_searched。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5486400" cy="237744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b="1" kern="0" spc="200" dirty="0">
                <a:solidFill>
                  <a:srgbClr val="C892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PART 03 · 算法创新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30352"/>
            <a:ext cx="1109441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1A1D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六大算法模块：语义 × 关键词 × 行为的融合排序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548640" y="1170432"/>
            <a:ext cx="11094415" cy="0"/>
          </a:xfrm>
          <a:prstGeom prst="line">
            <a:avLst/>
          </a:prstGeom>
          <a:noFill/>
          <a:ln w="12700">
            <a:solidFill>
              <a:srgbClr val="D9D4C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6473952"/>
            <a:ext cx="11094415" cy="0"/>
          </a:xfrm>
          <a:prstGeom prst="line">
            <a:avLst/>
          </a:prstGeom>
          <a:noFill/>
          <a:ln w="9525">
            <a:solidFill>
              <a:srgbClr val="D9D4C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6528816"/>
            <a:ext cx="548640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9AA1A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EasySearch · 应用服务智能检索推荐引擎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185855" y="6528816"/>
            <a:ext cx="45720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00" dirty="0">
                <a:solidFill>
                  <a:srgbClr val="9AA1A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48640" y="1417320"/>
            <a:ext cx="3545738" cy="2240280"/>
          </a:xfrm>
          <a:prstGeom prst="rect">
            <a:avLst/>
          </a:prstGeom>
          <a:solidFill>
            <a:srgbClr val="FFFFFF"/>
          </a:solidFill>
          <a:ln w="9525">
            <a:solidFill>
              <a:srgbClr val="D9D4C9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" y="1417320"/>
            <a:ext cx="3545738" cy="54864"/>
          </a:xfrm>
          <a:prstGeom prst="rect">
            <a:avLst/>
          </a:prstGeom>
          <a:solidFill>
            <a:srgbClr val="1F4E79"/>
          </a:solidFill>
          <a:ln/>
        </p:spPr>
      </p:sp>
      <p:sp>
        <p:nvSpPr>
          <p:cNvPr id="10" name="Text 8"/>
          <p:cNvSpPr/>
          <p:nvPr/>
        </p:nvSpPr>
        <p:spPr>
          <a:xfrm>
            <a:off x="749808" y="1600200"/>
            <a:ext cx="314340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A1D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混合检索打分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749808" y="2039112"/>
            <a:ext cx="3143402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5A62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0.6·向量语义 + 0.3·多字段 BM25 + 0.1·时间衰减热门性，三种归一化（minmax/rank/zscore）可切换，大库候选裁剪保性能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322978" y="1417320"/>
            <a:ext cx="3545738" cy="2240280"/>
          </a:xfrm>
          <a:prstGeom prst="rect">
            <a:avLst/>
          </a:prstGeom>
          <a:solidFill>
            <a:srgbClr val="FFFFFF"/>
          </a:solidFill>
          <a:ln w="9525">
            <a:solidFill>
              <a:srgbClr val="D9D4C9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322978" y="1417320"/>
            <a:ext cx="3545738" cy="54864"/>
          </a:xfrm>
          <a:prstGeom prst="rect">
            <a:avLst/>
          </a:prstGeom>
          <a:solidFill>
            <a:srgbClr val="1F4E79"/>
          </a:solidFill>
          <a:ln/>
        </p:spPr>
      </p:sp>
      <p:sp>
        <p:nvSpPr>
          <p:cNvPr id="14" name="Text 12"/>
          <p:cNvSpPr/>
          <p:nvPr/>
        </p:nvSpPr>
        <p:spPr>
          <a:xfrm>
            <a:off x="4524146" y="1600200"/>
            <a:ext cx="314340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A1D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DIN 注意力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4524146" y="2039112"/>
            <a:ext cx="3143402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5A62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对用户历史 query 序列做注意力加权，兴趣漂移时动态调整向量，session 级变体支撑长程对话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8097317" y="1417320"/>
            <a:ext cx="3545738" cy="2240280"/>
          </a:xfrm>
          <a:prstGeom prst="rect">
            <a:avLst/>
          </a:prstGeom>
          <a:solidFill>
            <a:srgbClr val="FFFFFF"/>
          </a:solidFill>
          <a:ln w="9525">
            <a:solidFill>
              <a:srgbClr val="D9D4C9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097317" y="1417320"/>
            <a:ext cx="3545738" cy="54864"/>
          </a:xfrm>
          <a:prstGeom prst="rect">
            <a:avLst/>
          </a:prstGeom>
          <a:solidFill>
            <a:srgbClr val="1F4E79"/>
          </a:solidFill>
          <a:ln/>
        </p:spPr>
      </p:sp>
      <p:sp>
        <p:nvSpPr>
          <p:cNvPr id="18" name="Text 16"/>
          <p:cNvSpPr/>
          <p:nvPr/>
        </p:nvSpPr>
        <p:spPr>
          <a:xfrm>
            <a:off x="8298485" y="1600200"/>
            <a:ext cx="314340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A1D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LLM 精排 + 本地降级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8298485" y="2039112"/>
            <a:ext cx="3143402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5A62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qwen3-vl-rerank 重排；失败自动切本地 DCN v2 / token-overlap；JSON 解析重试 + 全 rank 单调性校验防幻觉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48640" y="3886200"/>
            <a:ext cx="3545738" cy="2240280"/>
          </a:xfrm>
          <a:prstGeom prst="rect">
            <a:avLst/>
          </a:prstGeom>
          <a:solidFill>
            <a:srgbClr val="FFFFFF"/>
          </a:solidFill>
          <a:ln w="9525">
            <a:solidFill>
              <a:srgbClr val="D9D4C9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48640" y="3886200"/>
            <a:ext cx="3545738" cy="54864"/>
          </a:xfrm>
          <a:prstGeom prst="rect">
            <a:avLst/>
          </a:prstGeom>
          <a:solidFill>
            <a:srgbClr val="1F4E79"/>
          </a:solidFill>
          <a:ln/>
        </p:spPr>
      </p:sp>
      <p:sp>
        <p:nvSpPr>
          <p:cNvPr id="22" name="Text 20"/>
          <p:cNvSpPr/>
          <p:nvPr/>
        </p:nvSpPr>
        <p:spPr>
          <a:xfrm>
            <a:off x="749808" y="4069080"/>
            <a:ext cx="314340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A1D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MMR 多样性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749808" y="4507992"/>
            <a:ext cx="3143402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5A62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λ=0.85 平衡相关与多样，从 Top-20 精选 Top-10，避免同义服务刷屏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322978" y="3886200"/>
            <a:ext cx="3545738" cy="2240280"/>
          </a:xfrm>
          <a:prstGeom prst="rect">
            <a:avLst/>
          </a:prstGeom>
          <a:solidFill>
            <a:srgbClr val="FFFFFF"/>
          </a:solidFill>
          <a:ln w="9525">
            <a:solidFill>
              <a:srgbClr val="D9D4C9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322978" y="3886200"/>
            <a:ext cx="3545738" cy="54864"/>
          </a:xfrm>
          <a:prstGeom prst="rect">
            <a:avLst/>
          </a:prstGeom>
          <a:solidFill>
            <a:srgbClr val="1F4E79"/>
          </a:solidFill>
          <a:ln/>
        </p:spPr>
      </p:sp>
      <p:sp>
        <p:nvSpPr>
          <p:cNvPr id="26" name="Text 24"/>
          <p:cNvSpPr/>
          <p:nvPr/>
        </p:nvSpPr>
        <p:spPr>
          <a:xfrm>
            <a:off x="4524146" y="4069080"/>
            <a:ext cx="314340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A1D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协同过滤</a:t>
            </a:r>
            <a:endParaRPr lang="en-US" sz="1450" dirty="0"/>
          </a:p>
        </p:txBody>
      </p:sp>
      <p:sp>
        <p:nvSpPr>
          <p:cNvPr id="27" name="Text 25"/>
          <p:cNvSpPr/>
          <p:nvPr/>
        </p:nvSpPr>
        <p:spPr>
          <a:xfrm>
            <a:off x="4524146" y="4507992"/>
            <a:ext cx="3143402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5A62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基于点击共现的「猜你想用」+ 搜索结果相关推荐，缓存结果随 KB 变更自动校验失效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8097317" y="3886200"/>
            <a:ext cx="3545738" cy="2240280"/>
          </a:xfrm>
          <a:prstGeom prst="rect">
            <a:avLst/>
          </a:prstGeom>
          <a:solidFill>
            <a:srgbClr val="FFFFFF"/>
          </a:solidFill>
          <a:ln w="9525">
            <a:solidFill>
              <a:srgbClr val="D9D4C9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097317" y="3886200"/>
            <a:ext cx="3545738" cy="54864"/>
          </a:xfrm>
          <a:prstGeom prst="rect">
            <a:avLst/>
          </a:prstGeom>
          <a:solidFill>
            <a:srgbClr val="1F4E79"/>
          </a:solidFill>
          <a:ln/>
        </p:spPr>
      </p:sp>
      <p:sp>
        <p:nvSpPr>
          <p:cNvPr id="30" name="Text 28"/>
          <p:cNvSpPr/>
          <p:nvPr/>
        </p:nvSpPr>
        <p:spPr>
          <a:xfrm>
            <a:off x="8298485" y="4069080"/>
            <a:ext cx="314340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A1D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行为反馈闭环</a:t>
            </a:r>
            <a:endParaRPr lang="en-US" sz="1450" dirty="0"/>
          </a:p>
        </p:txBody>
      </p:sp>
      <p:sp>
        <p:nvSpPr>
          <p:cNvPr id="31" name="Text 29"/>
          <p:cNvSpPr/>
          <p:nvPr/>
        </p:nvSpPr>
        <p:spPr>
          <a:xfrm>
            <a:off x="8298485" y="4507992"/>
            <a:ext cx="3143402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5A62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点击 → 热门性加权；停留 &lt;3s → 负反馈降权；下线服务标记 deprecated 不污染全局热度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5486400" cy="237744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b="1" kern="0" spc="200" dirty="0">
                <a:solidFill>
                  <a:srgbClr val="C892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PART 03 · 工程创新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30352"/>
            <a:ext cx="1109441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1A1D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生产级加固：降级不断服、安全有纵深、运行可观测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548640" y="1170432"/>
            <a:ext cx="11094415" cy="0"/>
          </a:xfrm>
          <a:prstGeom prst="line">
            <a:avLst/>
          </a:prstGeom>
          <a:noFill/>
          <a:ln w="12700">
            <a:solidFill>
              <a:srgbClr val="D9D4C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6473952"/>
            <a:ext cx="11094415" cy="0"/>
          </a:xfrm>
          <a:prstGeom prst="line">
            <a:avLst/>
          </a:prstGeom>
          <a:noFill/>
          <a:ln w="9525">
            <a:solidFill>
              <a:srgbClr val="D9D4C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6528816"/>
            <a:ext cx="548640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9AA1A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EasySearch · 应用服务智能检索推荐引擎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185855" y="6528816"/>
            <a:ext cx="45720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00" dirty="0">
                <a:solidFill>
                  <a:srgbClr val="9AA1A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48640" y="1417320"/>
            <a:ext cx="3545738" cy="45720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4C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1572768"/>
            <a:ext cx="3179978" cy="25603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F4E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全链路降级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31520" y="1920240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1D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Embedding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965960" y="1920240"/>
            <a:ext cx="194553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62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 离线 hash 向量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731520" y="2377440"/>
            <a:ext cx="3179978" cy="0"/>
          </a:xfrm>
          <a:prstGeom prst="line">
            <a:avLst/>
          </a:prstGeom>
          <a:noFill/>
          <a:ln w="6350">
            <a:solidFill>
              <a:srgbClr val="D9D4C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31520" y="2578608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1D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Rerank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965960" y="2578608"/>
            <a:ext cx="194553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62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 DCN v2 / 关键词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731520" y="3035808"/>
            <a:ext cx="3179978" cy="0"/>
          </a:xfrm>
          <a:prstGeom prst="line">
            <a:avLst/>
          </a:prstGeom>
          <a:noFill/>
          <a:ln w="6350">
            <a:solidFill>
              <a:srgbClr val="D9D4C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31520" y="3236976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1D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排序理由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965960" y="3236976"/>
            <a:ext cx="194553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62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 </a:t>
            </a:r>
            <a:r>
              <a:rPr lang="zh-CN" altLang="en-US" sz="1000" dirty="0">
                <a:solidFill>
                  <a:srgbClr val="5A62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预设规则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731520" y="3694176"/>
            <a:ext cx="3179978" cy="0"/>
          </a:xfrm>
          <a:prstGeom prst="line">
            <a:avLst/>
          </a:prstGeom>
          <a:noFill/>
          <a:ln w="6350">
            <a:solidFill>
              <a:srgbClr val="D9D4C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31520" y="3895344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1D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缓存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965960" y="3895344"/>
            <a:ext cx="194553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62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 内存 LRU 60s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731520" y="4352544"/>
            <a:ext cx="3179978" cy="0"/>
          </a:xfrm>
          <a:prstGeom prst="line">
            <a:avLst/>
          </a:prstGeom>
          <a:noFill/>
          <a:ln w="6350">
            <a:solidFill>
              <a:srgbClr val="D9D4C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31520" y="4553712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1D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深度检索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965960" y="4553712"/>
            <a:ext cx="194553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62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 启发式选取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731520" y="5010912"/>
            <a:ext cx="3179978" cy="0"/>
          </a:xfrm>
          <a:prstGeom prst="line">
            <a:avLst/>
          </a:prstGeom>
          <a:noFill/>
          <a:ln w="6350">
            <a:solidFill>
              <a:srgbClr val="D9D4C9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31520" y="5212080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1D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监控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1965960" y="5212080"/>
            <a:ext cx="194553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62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 手写 exposition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731520" y="5596128"/>
            <a:ext cx="317997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9AA1A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任一外部依赖失效，服务整体可用、体验平滑降级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4322978" y="1417320"/>
            <a:ext cx="3545738" cy="45720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4C9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505858" y="1572768"/>
            <a:ext cx="3179978" cy="25603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F4E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安全纵深防御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4505858" y="192024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1D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注入防御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5923178" y="1920240"/>
            <a:ext cx="153405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950" dirty="0">
                <a:solidFill>
                  <a:srgbClr val="5A62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中英文越狱话术识别，命中即 400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4505858" y="2377440"/>
            <a:ext cx="3179978" cy="0"/>
          </a:xfrm>
          <a:prstGeom prst="line">
            <a:avLst/>
          </a:prstGeom>
          <a:noFill/>
          <a:ln w="6350">
            <a:solidFill>
              <a:srgbClr val="D9D4C9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505858" y="2578608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1D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输入清洗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5923178" y="2578608"/>
            <a:ext cx="153405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950" dirty="0">
                <a:solidFill>
                  <a:srgbClr val="5A62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控制/零宽字符剥离，Markdown 头清洗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4505858" y="3035808"/>
            <a:ext cx="3179978" cy="0"/>
          </a:xfrm>
          <a:prstGeom prst="line">
            <a:avLst/>
          </a:prstGeom>
          <a:noFill/>
          <a:ln w="6350">
            <a:solidFill>
              <a:srgbClr val="D9D4C9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505858" y="3236976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1D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SSRF 防护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5923178" y="3236976"/>
            <a:ext cx="153405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950" dirty="0">
                <a:solidFill>
                  <a:srgbClr val="5A62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仅 http/https、拒私网 IP、不跟重定向、5s 超时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4505858" y="3694176"/>
            <a:ext cx="3179978" cy="0"/>
          </a:xfrm>
          <a:prstGeom prst="line">
            <a:avLst/>
          </a:prstGeom>
          <a:noFill/>
          <a:ln w="6350">
            <a:solidFill>
              <a:srgbClr val="D9D4C9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505858" y="3895344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1D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三中间件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5923178" y="3895344"/>
            <a:ext cx="153405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950" dirty="0">
                <a:solidFill>
                  <a:srgbClr val="5A62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限流 60/min · 体积 10MB · API Key 鉴权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4505858" y="4352544"/>
            <a:ext cx="3179978" cy="0"/>
          </a:xfrm>
          <a:prstGeom prst="line">
            <a:avLst/>
          </a:prstGeom>
          <a:noFill/>
          <a:ln w="6350">
            <a:solidFill>
              <a:srgbClr val="D9D4C9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505858" y="4553712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1D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LLM 输出校验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5923178" y="4553712"/>
            <a:ext cx="153405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950" dirty="0">
                <a:solidFill>
                  <a:srgbClr val="5A62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service_id 白名单 + HTML 剥离 + 限长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4505858" y="5010912"/>
            <a:ext cx="3179978" cy="0"/>
          </a:xfrm>
          <a:prstGeom prst="line">
            <a:avLst/>
          </a:prstGeom>
          <a:noFill/>
          <a:ln w="6350">
            <a:solidFill>
              <a:srgbClr val="D9D4C9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505858" y="521208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1D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隐私与密钥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5923178" y="5212080"/>
            <a:ext cx="153405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950" dirty="0">
                <a:solidFill>
                  <a:srgbClr val="5A62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user_id 加盐哈希落日志，源码零密钥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8097317" y="1417320"/>
            <a:ext cx="3545738" cy="45720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4C9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8280197" y="1572768"/>
            <a:ext cx="3179978" cy="25603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F4E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运行可观测</a:t>
            </a:r>
            <a:endParaRPr lang="en-US" sz="1200" dirty="0"/>
          </a:p>
        </p:txBody>
      </p:sp>
      <p:sp>
        <p:nvSpPr>
          <p:cNvPr id="49" name="Text 47"/>
          <p:cNvSpPr/>
          <p:nvPr/>
        </p:nvSpPr>
        <p:spPr>
          <a:xfrm>
            <a:off x="8280197" y="1920240"/>
            <a:ext cx="317997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1D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实时大盘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8280197" y="2176272"/>
            <a:ext cx="317997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950" dirty="0">
                <a:solidFill>
                  <a:srgbClr val="5A62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60s 滚动窗口：QPS/错误率/缓存/降级/P95，SSE 1s 推送</a:t>
            </a:r>
            <a:endParaRPr lang="en-US" sz="950" dirty="0"/>
          </a:p>
        </p:txBody>
      </p:sp>
      <p:sp>
        <p:nvSpPr>
          <p:cNvPr id="51" name="Text 49"/>
          <p:cNvSpPr/>
          <p:nvPr/>
        </p:nvSpPr>
        <p:spPr>
          <a:xfrm>
            <a:off x="8280197" y="2706624"/>
            <a:ext cx="317997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1D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告警规则 ×4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8280197" y="2962656"/>
            <a:ext cx="317997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950" dirty="0">
                <a:solidFill>
                  <a:srgbClr val="5A62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错误率&gt;5% · P95&gt;1s · 缓存&lt;30% · 外部连续失败≥5</a:t>
            </a:r>
            <a:endParaRPr lang="en-US" sz="950" dirty="0"/>
          </a:p>
        </p:txBody>
      </p:sp>
      <p:sp>
        <p:nvSpPr>
          <p:cNvPr id="53" name="Text 51"/>
          <p:cNvSpPr/>
          <p:nvPr/>
        </p:nvSpPr>
        <p:spPr>
          <a:xfrm>
            <a:off x="8280197" y="3493008"/>
            <a:ext cx="317997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1D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结构化日志</a:t>
            </a:r>
            <a:endParaRPr lang="en-US" sz="1000" dirty="0"/>
          </a:p>
        </p:txBody>
      </p:sp>
      <p:sp>
        <p:nvSpPr>
          <p:cNvPr id="54" name="Text 52"/>
          <p:cNvSpPr/>
          <p:nvPr/>
        </p:nvSpPr>
        <p:spPr>
          <a:xfrm>
            <a:off x="8280197" y="3749040"/>
            <a:ext cx="317997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950" dirty="0">
                <a:solidFill>
                  <a:srgbClr val="5A62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JSON 格式 + 全链路 search_logs（无点击/高延迟聚合）</a:t>
            </a:r>
            <a:endParaRPr lang="en-US" sz="950" dirty="0"/>
          </a:p>
        </p:txBody>
      </p:sp>
      <p:sp>
        <p:nvSpPr>
          <p:cNvPr id="55" name="Text 53"/>
          <p:cNvSpPr/>
          <p:nvPr/>
        </p:nvSpPr>
        <p:spPr>
          <a:xfrm>
            <a:off x="8280197" y="4279392"/>
            <a:ext cx="317997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1D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Prometheus</a:t>
            </a:r>
            <a:endParaRPr lang="en-US" sz="1000" dirty="0"/>
          </a:p>
        </p:txBody>
      </p:sp>
      <p:sp>
        <p:nvSpPr>
          <p:cNvPr id="56" name="Text 54"/>
          <p:cNvSpPr/>
          <p:nvPr/>
        </p:nvSpPr>
        <p:spPr>
          <a:xfrm>
            <a:off x="8280197" y="4535424"/>
            <a:ext cx="317997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950" dirty="0">
                <a:solidFill>
                  <a:srgbClr val="5A62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标准 /metrics 端点，分阶段 Histogram</a:t>
            </a:r>
            <a:endParaRPr lang="en-US" sz="950" dirty="0"/>
          </a:p>
        </p:txBody>
      </p:sp>
      <p:sp>
        <p:nvSpPr>
          <p:cNvPr id="57" name="Text 55"/>
          <p:cNvSpPr/>
          <p:nvPr/>
        </p:nvSpPr>
        <p:spPr>
          <a:xfrm>
            <a:off x="8280197" y="5065776"/>
            <a:ext cx="317997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1D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调用重试</a:t>
            </a:r>
            <a:endParaRPr lang="en-US" sz="1000" dirty="0"/>
          </a:p>
        </p:txBody>
      </p:sp>
      <p:sp>
        <p:nvSpPr>
          <p:cNvPr id="58" name="Text 56"/>
          <p:cNvSpPr/>
          <p:nvPr/>
        </p:nvSpPr>
        <p:spPr>
          <a:xfrm>
            <a:off x="8280197" y="5321808"/>
            <a:ext cx="317997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950" dirty="0">
                <a:solidFill>
                  <a:srgbClr val="5A62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5xx/超时指数退避 ×2，4xx 不重试，埋点只记终态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5486400" cy="237744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b="1" kern="0" spc="200" dirty="0">
                <a:solidFill>
                  <a:srgbClr val="C892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PART 03 · 运行展示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30352"/>
            <a:ext cx="1109441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1A1D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实际运行情况（录屏 / 截图占位，汇报前替换）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548640" y="1170432"/>
            <a:ext cx="11094415" cy="0"/>
          </a:xfrm>
          <a:prstGeom prst="line">
            <a:avLst/>
          </a:prstGeom>
          <a:noFill/>
          <a:ln w="12700">
            <a:solidFill>
              <a:srgbClr val="D9D4C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6473952"/>
            <a:ext cx="11094415" cy="0"/>
          </a:xfrm>
          <a:prstGeom prst="line">
            <a:avLst/>
          </a:prstGeom>
          <a:noFill/>
          <a:ln w="9525">
            <a:solidFill>
              <a:srgbClr val="D9D4C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6528816"/>
            <a:ext cx="548640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9AA1A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EasySearch · 应用服务智能检索推荐引擎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185855" y="6528816"/>
            <a:ext cx="45720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00" dirty="0">
                <a:solidFill>
                  <a:srgbClr val="9AA1A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48640" y="1463040"/>
            <a:ext cx="3545738" cy="4114800"/>
          </a:xfrm>
          <a:prstGeom prst="rect">
            <a:avLst/>
          </a:prstGeom>
          <a:solidFill>
            <a:srgbClr val="FFFFFF"/>
          </a:solidFill>
          <a:ln w="15875">
            <a:solidFill>
              <a:srgbClr val="9AA1AD"/>
            </a:solidFill>
            <a:prstDash val="dash"/>
          </a:ln>
        </p:spPr>
      </p:sp>
      <p:sp>
        <p:nvSpPr>
          <p:cNvPr id="9" name="Text 7"/>
          <p:cNvSpPr/>
          <p:nvPr/>
        </p:nvSpPr>
        <p:spPr>
          <a:xfrm>
            <a:off x="2001469" y="28346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D9D4C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▶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731520" y="3566160"/>
            <a:ext cx="317997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9AA1A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录屏 / 截图占位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77240" y="4343400"/>
            <a:ext cx="308853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4E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演示一 · 智能搜索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77240" y="4681728"/>
            <a:ext cx="308853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950" dirty="0">
                <a:solidFill>
                  <a:srgbClr val="5A62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自然语言检索 → 排序理由 → 点击路由直达服务</a:t>
            </a:r>
            <a:endParaRPr lang="en-US" sz="9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950" dirty="0">
                <a:solidFill>
                  <a:srgbClr val="5A62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（建议录屏：四大场景各演示 1 条 query）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322978" y="1463040"/>
            <a:ext cx="3545738" cy="4114800"/>
          </a:xfrm>
          <a:prstGeom prst="rect">
            <a:avLst/>
          </a:prstGeom>
          <a:solidFill>
            <a:srgbClr val="FFFFFF"/>
          </a:solidFill>
          <a:ln w="15875">
            <a:solidFill>
              <a:srgbClr val="9AA1AD"/>
            </a:solidFill>
            <a:prstDash val="dash"/>
          </a:ln>
        </p:spPr>
      </p:sp>
      <p:sp>
        <p:nvSpPr>
          <p:cNvPr id="14" name="Text 12"/>
          <p:cNvSpPr/>
          <p:nvPr/>
        </p:nvSpPr>
        <p:spPr>
          <a:xfrm>
            <a:off x="5775808" y="28346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D9D4C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▶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4505858" y="3566160"/>
            <a:ext cx="317997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9AA1A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录屏 / 截图占位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551578" y="4343400"/>
            <a:ext cx="308853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4E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演示二 · 高级能力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551578" y="4681728"/>
            <a:ext cx="308853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950" dirty="0">
                <a:solidFill>
                  <a:srgbClr val="5A62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多条件交集搜索 / 长程对话 / 深度组件直达</a:t>
            </a:r>
            <a:endParaRPr lang="en-US" sz="9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950" dirty="0">
                <a:solidFill>
                  <a:srgbClr val="5A62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（建议录屏：多行条件 + 会话追问 + 组件 chip 点击）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8097317" y="1463040"/>
            <a:ext cx="3545738" cy="4114800"/>
          </a:xfrm>
          <a:prstGeom prst="rect">
            <a:avLst/>
          </a:prstGeom>
          <a:solidFill>
            <a:srgbClr val="FFFFFF"/>
          </a:solidFill>
          <a:ln w="15875">
            <a:solidFill>
              <a:srgbClr val="9AA1AD"/>
            </a:solidFill>
            <a:prstDash val="dash"/>
          </a:ln>
        </p:spPr>
      </p:sp>
      <p:sp>
        <p:nvSpPr>
          <p:cNvPr id="19" name="Text 17"/>
          <p:cNvSpPr/>
          <p:nvPr/>
        </p:nvSpPr>
        <p:spPr>
          <a:xfrm>
            <a:off x="9550146" y="28346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D9D4C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▶</a:t>
            </a:r>
            <a:endParaRPr lang="en-US" sz="3000" dirty="0"/>
          </a:p>
        </p:txBody>
      </p:sp>
      <p:sp>
        <p:nvSpPr>
          <p:cNvPr id="20" name="Text 18"/>
          <p:cNvSpPr/>
          <p:nvPr/>
        </p:nvSpPr>
        <p:spPr>
          <a:xfrm>
            <a:off x="8280197" y="3566160"/>
            <a:ext cx="317997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9AA1A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录屏 / 截图占位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8325917" y="4343400"/>
            <a:ext cx="308853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4E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演示三 · 运维双台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8325917" y="4681728"/>
            <a:ext cx="308853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950" dirty="0">
                <a:solidFill>
                  <a:srgbClr val="5A62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知识库管理（导入/回滚）+ 实时监控大盘</a:t>
            </a:r>
            <a:endParaRPr lang="en-US" sz="9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950" dirty="0">
                <a:solidFill>
                  <a:srgbClr val="5A62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（建议录屏：KB 版本切换 + 大盘指标实时跳动）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548640" y="585216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9AA1A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提示：三个虚线框为预留媒体位，替换为真实录屏/截图后即可用于正式汇报。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5486400" cy="237744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b="1" kern="0" spc="200" dirty="0">
                <a:solidFill>
                  <a:srgbClr val="C892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PART 04 · 总结与展望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30352"/>
            <a:ext cx="1109441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1A1D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业务价值 × 技术可落地：已具备生产试点条件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548640" y="1170432"/>
            <a:ext cx="11094415" cy="0"/>
          </a:xfrm>
          <a:prstGeom prst="line">
            <a:avLst/>
          </a:prstGeom>
          <a:noFill/>
          <a:ln w="12700">
            <a:solidFill>
              <a:srgbClr val="D9D4C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6473952"/>
            <a:ext cx="11094415" cy="0"/>
          </a:xfrm>
          <a:prstGeom prst="line">
            <a:avLst/>
          </a:prstGeom>
          <a:noFill/>
          <a:ln w="9525">
            <a:solidFill>
              <a:srgbClr val="D9D4C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6528816"/>
            <a:ext cx="548640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9AA1A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EasySearch · 应用服务智能检索推荐引擎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185855" y="6528816"/>
            <a:ext cx="45720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00" dirty="0">
                <a:solidFill>
                  <a:srgbClr val="9AA1A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13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48640" y="1417320"/>
            <a:ext cx="11094415" cy="1051560"/>
          </a:xfrm>
          <a:prstGeom prst="rect">
            <a:avLst/>
          </a:prstGeom>
          <a:solidFill>
            <a:srgbClr val="1F4E79"/>
          </a:solidFill>
          <a:ln w="9525">
            <a:solidFill>
              <a:srgbClr val="D9D4C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1600200"/>
            <a:ext cx="1054577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一句话总结：EasySearch 用「意图理解 + 混合检索 + 生产级工程」把证券 App 的服务触达，从翻菜单变成说一句话。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548640" y="2743200"/>
            <a:ext cx="3545738" cy="16916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4C9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8640" y="2743200"/>
            <a:ext cx="45720" cy="1691640"/>
          </a:xfrm>
          <a:prstGeom prst="rect">
            <a:avLst/>
          </a:prstGeom>
          <a:solidFill>
            <a:srgbClr val="2E7D4F"/>
          </a:solidFill>
          <a:ln/>
        </p:spPr>
      </p:sp>
      <p:sp>
        <p:nvSpPr>
          <p:cNvPr id="12" name="Text 10"/>
          <p:cNvSpPr/>
          <p:nvPr/>
        </p:nvSpPr>
        <p:spPr>
          <a:xfrm>
            <a:off x="713232" y="2852928"/>
            <a:ext cx="3271418" cy="20116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2E7D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已兑现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713232" y="3072384"/>
            <a:ext cx="321655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D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命题要求全达成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713232" y="3419856"/>
            <a:ext cx="3216554" cy="905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5A62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四大核心场景 100% 通过；16 个功能模块全量交付；只推荐库内服务，兜底不胡编。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322978" y="2743200"/>
            <a:ext cx="3545738" cy="16916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4C9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322978" y="2743200"/>
            <a:ext cx="45720" cy="1691640"/>
          </a:xfrm>
          <a:prstGeom prst="rect">
            <a:avLst/>
          </a:prstGeom>
          <a:solidFill>
            <a:srgbClr val="2E7D4F"/>
          </a:solidFill>
          <a:ln/>
        </p:spPr>
      </p:sp>
      <p:sp>
        <p:nvSpPr>
          <p:cNvPr id="17" name="Text 15"/>
          <p:cNvSpPr/>
          <p:nvPr/>
        </p:nvSpPr>
        <p:spPr>
          <a:xfrm>
            <a:off x="4487570" y="2852928"/>
            <a:ext cx="3271418" cy="20116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2E7D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超预期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487570" y="3072384"/>
            <a:ext cx="321655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D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生产级能力前置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487570" y="3419856"/>
            <a:ext cx="3216554" cy="905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5A62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监控大盘、告警、降级矩阵、安全中间件、KB 版本管理等试点即具备运维能力。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8097317" y="2743200"/>
            <a:ext cx="3545738" cy="16916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4C9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097317" y="2743200"/>
            <a:ext cx="45720" cy="1691640"/>
          </a:xfrm>
          <a:prstGeom prst="rect">
            <a:avLst/>
          </a:prstGeom>
          <a:solidFill>
            <a:srgbClr val="2E7D4F"/>
          </a:solidFill>
          <a:ln/>
        </p:spPr>
      </p:sp>
      <p:sp>
        <p:nvSpPr>
          <p:cNvPr id="22" name="Text 20"/>
          <p:cNvSpPr/>
          <p:nvPr/>
        </p:nvSpPr>
        <p:spPr>
          <a:xfrm>
            <a:off x="8261909" y="2852928"/>
            <a:ext cx="3271418" cy="20116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2E7D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可量化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8261909" y="3072384"/>
            <a:ext cx="321655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D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数据持续沉淀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8261909" y="3419856"/>
            <a:ext cx="3216554" cy="905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5A62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search_logs / 行为反馈闭环已就位，上线后可用真实点击数据持续优化排序。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548640" y="4663440"/>
            <a:ext cx="2743200" cy="25603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b="1" kern="0" spc="200" dirty="0">
                <a:solidFill>
                  <a:srgbClr val="C892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演进方向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40080" y="5010912"/>
            <a:ext cx="45720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C892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1188720" y="5010912"/>
            <a:ext cx="103628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1D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规模化：大库（&gt;10K）切 FAISS IVF/HNSW 近似索引，多 worker + Redis 分布式缓存与限流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640080" y="5449824"/>
            <a:ext cx="45720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C892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1188720" y="5449824"/>
            <a:ext cx="103628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1D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智能化：真实点击数据训练 DCN v2 排序模型，负反馈与协同信号在线更新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640080" y="5888736"/>
            <a:ext cx="45720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C892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1188720" y="5888736"/>
            <a:ext cx="103628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1D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生态化：告警接入钉钉/飞书，搜索能力以 SDK 形式复用到投顾、客服等更多入口</a:t>
            </a:r>
            <a:endParaRPr lang="en-US" sz="11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pt_assets/cover_bg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>
              <a:alpha val="55000"/>
            </a:srgbClr>
          </a:solidFill>
          <a:ln/>
        </p:spPr>
      </p:sp>
      <p:sp>
        <p:nvSpPr>
          <p:cNvPr id="4" name="Text 1"/>
          <p:cNvSpPr/>
          <p:nvPr/>
        </p:nvSpPr>
        <p:spPr>
          <a:xfrm>
            <a:off x="0" y="2651760"/>
            <a:ext cx="121916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谢谢聆听 · 敬请指正</a:t>
            </a:r>
            <a:endParaRPr lang="en-US" sz="3600" dirty="0"/>
          </a:p>
        </p:txBody>
      </p:sp>
      <p:sp>
        <p:nvSpPr>
          <p:cNvPr id="5" name="Shape 2"/>
          <p:cNvSpPr/>
          <p:nvPr/>
        </p:nvSpPr>
        <p:spPr>
          <a:xfrm>
            <a:off x="5090008" y="3611880"/>
            <a:ext cx="2011680" cy="0"/>
          </a:xfrm>
          <a:prstGeom prst="line">
            <a:avLst/>
          </a:prstGeom>
          <a:noFill/>
          <a:ln w="25400">
            <a:solidFill>
              <a:srgbClr val="C8922A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0" y="3794760"/>
            <a:ext cx="121916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AAB8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EasySearch · 应用服务智能检索推荐引擎 · Q&amp;A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B1F3A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1401</Words>
  <Application>Microsoft Office PowerPoint</Application>
  <PresentationFormat>宽屏</PresentationFormat>
  <Paragraphs>305</Paragraphs>
  <Slides>14</Slides>
  <Notes>14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14</vt:i4>
      </vt:variant>
    </vt:vector>
  </HeadingPairs>
  <TitlesOfParts>
    <vt:vector size="19" baseType="lpstr">
      <vt:lpstr>等线</vt:lpstr>
      <vt:lpstr>Microsoft YaHei</vt:lpstr>
      <vt:lpstr>Arial</vt:lpstr>
      <vt:lpstr>Calibri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EasySearch 项目汇报</dc:title>
  <dc:subject>PptxGenJS Presentation</dc:subject>
  <dc:creator>EasySearch</dc:creator>
  <cp:lastModifiedBy>长顺 马</cp:lastModifiedBy>
  <cp:revision>2</cp:revision>
  <dcterms:created xsi:type="dcterms:W3CDTF">2026-08-25T12:50:33Z</dcterms:created>
  <dcterms:modified xsi:type="dcterms:W3CDTF">2026-08-25T12:53:39Z</dcterms:modified>
</cp:coreProperties>
</file>